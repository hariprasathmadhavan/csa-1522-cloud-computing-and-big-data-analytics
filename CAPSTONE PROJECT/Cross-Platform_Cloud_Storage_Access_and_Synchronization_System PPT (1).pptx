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2"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3" autoAdjust="0"/>
    <p:restoredTop sz="94610"/>
  </p:normalViewPr>
  <p:slideViewPr>
    <p:cSldViewPr snapToGrid="0" snapToObjects="1">
      <p:cViewPr>
        <p:scale>
          <a:sx n="128" d="100"/>
          <a:sy n="128" d="100"/>
        </p:scale>
        <p:origin x="110" y="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3575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256032" y="237744"/>
            <a:ext cx="4059936" cy="832104"/>
          </a:xfrm>
          <a:prstGeom prst="rect">
            <a:avLst/>
          </a:prstGeom>
        </p:spPr>
      </p:pic>
      <p:pic>
        <p:nvPicPr>
          <p:cNvPr id="3" name="Image 1" descr="/home/claude/work/assets/logo_saveetha.png"/>
          <p:cNvPicPr>
            <a:picLocks noChangeAspect="1"/>
          </p:cNvPicPr>
          <p:nvPr/>
        </p:nvPicPr>
        <p:blipFill>
          <a:blip r:embed="rId4"/>
          <a:stretch>
            <a:fillRect/>
          </a:stretch>
        </p:blipFill>
        <p:spPr>
          <a:xfrm>
            <a:off x="4690872" y="182880"/>
            <a:ext cx="4059936" cy="996696"/>
          </a:xfrm>
          <a:prstGeom prst="rect">
            <a:avLst/>
          </a:prstGeom>
        </p:spPr>
      </p:pic>
      <p:sp>
        <p:nvSpPr>
          <p:cNvPr id="4" name="Text 0"/>
          <p:cNvSpPr/>
          <p:nvPr/>
        </p:nvSpPr>
        <p:spPr>
          <a:xfrm>
            <a:off x="594360" y="1737360"/>
            <a:ext cx="7955280" cy="1005840"/>
          </a:xfrm>
          <a:prstGeom prst="rect">
            <a:avLst/>
          </a:prstGeom>
          <a:noFill/>
          <a:ln/>
        </p:spPr>
        <p:txBody>
          <a:bodyPr wrap="square" rtlCol="0" anchor="ctr"/>
          <a:lstStyle/>
          <a:p>
            <a:pPr marL="0" indent="0" algn="ctr">
              <a:buNone/>
            </a:pPr>
            <a:r>
              <a:rPr lang="en-US" sz="2600" b="1" dirty="0">
                <a:solidFill>
                  <a:srgbClr val="000000"/>
                </a:solidFill>
                <a:latin typeface="Times New Roman" pitchFamily="34" charset="0"/>
                <a:ea typeface="Times New Roman" pitchFamily="34" charset="-122"/>
                <a:cs typeface="Times New Roman" pitchFamily="34" charset="-120"/>
              </a:rPr>
              <a:t>Cross-Platform Cloud Storage Access and Synchronization System</a:t>
            </a:r>
            <a:endParaRPr lang="en-US" sz="2600" dirty="0"/>
          </a:p>
        </p:txBody>
      </p:sp>
      <p:sp>
        <p:nvSpPr>
          <p:cNvPr id="5" name="Text 1"/>
          <p:cNvSpPr/>
          <p:nvPr/>
        </p:nvSpPr>
        <p:spPr>
          <a:xfrm>
            <a:off x="594360" y="2788920"/>
            <a:ext cx="7955280" cy="365760"/>
          </a:xfrm>
          <a:prstGeom prst="rect">
            <a:avLst/>
          </a:prstGeom>
          <a:noFill/>
          <a:ln/>
        </p:spPr>
        <p:txBody>
          <a:bodyPr wrap="square" rtlCol="0" anchor="ct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CSA1522 - CLOUD COMPUTING &amp; BIG DATA ANALYTICS</a:t>
            </a:r>
            <a:endParaRPr lang="en-US" sz="1400" dirty="0"/>
          </a:p>
        </p:txBody>
      </p:sp>
      <p:sp>
        <p:nvSpPr>
          <p:cNvPr id="6" name="Text 2"/>
          <p:cNvSpPr/>
          <p:nvPr/>
        </p:nvSpPr>
        <p:spPr>
          <a:xfrm>
            <a:off x="594360" y="3657600"/>
            <a:ext cx="2926080" cy="822960"/>
          </a:xfrm>
          <a:prstGeom prst="rect">
            <a:avLst/>
          </a:prstGeom>
          <a:noFill/>
          <a:ln/>
        </p:spPr>
        <p:txBody>
          <a:bodyPr wrap="square" rtlCol="0" anchor="t"/>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Guided by :</a:t>
            </a:r>
            <a:endParaRPr lang="en-US" sz="1300" dirty="0"/>
          </a:p>
          <a:p>
            <a:pPr marL="0" indent="0">
              <a:buNone/>
            </a:pPr>
            <a:r>
              <a:rPr lang="en-US" sz="1300" dirty="0" err="1">
                <a:solidFill>
                  <a:srgbClr val="000000"/>
                </a:solidFill>
                <a:latin typeface="Times New Roman" pitchFamily="34" charset="0"/>
                <a:cs typeface="Times New Roman" pitchFamily="34" charset="-120"/>
              </a:rPr>
              <a:t>Dr.Rajaram</a:t>
            </a:r>
            <a:r>
              <a:rPr lang="en-US" sz="1300" dirty="0">
                <a:solidFill>
                  <a:srgbClr val="000000"/>
                </a:solidFill>
                <a:latin typeface="Times New Roman" pitchFamily="34" charset="0"/>
                <a:cs typeface="Times New Roman" pitchFamily="34" charset="-120"/>
              </a:rPr>
              <a:t> P</a:t>
            </a:r>
            <a:endParaRPr lang="en-US" sz="1300" dirty="0"/>
          </a:p>
        </p:txBody>
      </p:sp>
      <p:sp>
        <p:nvSpPr>
          <p:cNvPr id="7" name="Text 3"/>
          <p:cNvSpPr/>
          <p:nvPr/>
        </p:nvSpPr>
        <p:spPr>
          <a:xfrm>
            <a:off x="6217920" y="3657600"/>
            <a:ext cx="2377440" cy="822960"/>
          </a:xfrm>
          <a:prstGeom prst="rect">
            <a:avLst/>
          </a:prstGeom>
          <a:noFill/>
          <a:ln/>
        </p:spPr>
        <p:txBody>
          <a:bodyPr wrap="square" rtlCol="0" anchor="t"/>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Name of the student :</a:t>
            </a:r>
            <a:endParaRPr lang="en-US" sz="1300" dirty="0"/>
          </a:p>
          <a:p>
            <a:pPr marL="0" indent="0">
              <a:buNone/>
            </a:pPr>
            <a:r>
              <a:rPr lang="en-US" sz="1300" dirty="0">
                <a:solidFill>
                  <a:srgbClr val="000000"/>
                </a:solidFill>
                <a:latin typeface="Times New Roman" pitchFamily="34" charset="0"/>
                <a:cs typeface="Times New Roman" pitchFamily="34" charset="-120"/>
              </a:rPr>
              <a:t>Hariprasath(192421246)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Introduction</a:t>
            </a:r>
            <a:endParaRPr lang="en-US" sz="2400" dirty="0"/>
          </a:p>
        </p:txBody>
      </p:sp>
      <p:sp>
        <p:nvSpPr>
          <p:cNvPr id="5" name="Text 1"/>
          <p:cNvSpPr/>
          <p:nvPr/>
        </p:nvSpPr>
        <p:spPr>
          <a:xfrm>
            <a:off x="502920" y="1298448"/>
            <a:ext cx="7882128" cy="3520440"/>
          </a:xfrm>
          <a:prstGeom prst="rect">
            <a:avLst/>
          </a:prstGeom>
          <a:noFill/>
          <a:ln/>
        </p:spPr>
        <p:txBody>
          <a:bodyPr wrap="square" rtlCol="0" anchor="t"/>
          <a:lstStyle/>
          <a:p>
            <a:pPr marL="228600" indent="-228600">
              <a:lnSpc>
                <a:spcPct val="108000"/>
              </a:lnSpc>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Cloud storage lets users store, access, and manage files remotely over the internet instead of relying only on local disks.</a:t>
            </a:r>
            <a:endParaRPr lang="en-US" sz="1600" dirty="0"/>
          </a:p>
          <a:p>
            <a:pPr marL="228600" indent="-228600">
              <a:lnSpc>
                <a:spcPct val="108000"/>
              </a:lnSpc>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People increasingly move between multiple devices and operating systems (Windows, macOS, Linux, Android, iOS), creating a need for consistent file access everywhere.</a:t>
            </a:r>
            <a:endParaRPr lang="en-US" sz="1600" dirty="0"/>
          </a:p>
          <a:p>
            <a:pPr marL="228600" indent="-228600">
              <a:lnSpc>
                <a:spcPct val="108000"/>
              </a:lnSpc>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A Cross-Platform Cloud Storage Access and Synchronization System keeps files updated automatically across all connected devices without manual transfers.</a:t>
            </a:r>
            <a:endParaRPr lang="en-US" sz="1600" dirty="0"/>
          </a:p>
          <a:p>
            <a:pPr marL="228600" indent="-228600">
              <a:lnSpc>
                <a:spcPct val="108000"/>
              </a:lnSpc>
              <a:spcAft>
                <a:spcPts val="10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Cloud technologies provide scalability, redundancy, and secure remote access from any location with an internet connection.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Abstract</a:t>
            </a:r>
            <a:endParaRPr lang="en-US" sz="2400" dirty="0"/>
          </a:p>
        </p:txBody>
      </p:sp>
      <p:sp>
        <p:nvSpPr>
          <p:cNvPr id="5" name="Text 1"/>
          <p:cNvSpPr/>
          <p:nvPr/>
        </p:nvSpPr>
        <p:spPr>
          <a:xfrm>
            <a:off x="502920" y="1298448"/>
            <a:ext cx="7882128" cy="3291840"/>
          </a:xfrm>
          <a:prstGeom prst="rect">
            <a:avLst/>
          </a:prstGeom>
          <a:noFill/>
          <a:ln/>
        </p:spPr>
        <p:txBody>
          <a:bodyPr wrap="square" rtlCol="0" anchor="t"/>
          <a:lstStyle/>
          <a:p>
            <a:pPr marL="0" indent="0" algn="just">
              <a:lnSpc>
                <a:spcPct val="115000"/>
              </a:lnSpc>
              <a:buNone/>
            </a:pPr>
            <a:r>
              <a:rPr lang="en-US" sz="1600" dirty="0">
                <a:solidFill>
                  <a:srgbClr val="000000"/>
                </a:solidFill>
                <a:latin typeface="Times New Roman" pitchFamily="34" charset="0"/>
                <a:ea typeface="Times New Roman" pitchFamily="34" charset="-122"/>
                <a:cs typeface="Times New Roman" pitchFamily="34" charset="-120"/>
              </a:rPr>
              <a:t>This project presents a Cross-Platform Cloud Storage Access and Synchronization System that allows users to upload, access, and synchronize files seamlessly across multiple operating systems and devices. The system uses a centralized cloud storage backend with lightweight client applications for each platform, ensuring that changes made on one device are automatically reflected on all others. It incorporates secure authentication, delta (incremental) synchronization to minimize bandwidth usage, conflict detection and resolution for simultaneous edits, and end-to-end encryption for data protection. By leveraging cloud computing principles such as distributed storage, load balancing, and versioning, the platform delivers reliable, real-time file synchronization with minimal user intervention, improving productivity and accessibility for individuals and teams working across different devices.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Literature Review</a:t>
            </a:r>
            <a:endParaRPr lang="en-US" sz="2200" dirty="0"/>
          </a:p>
        </p:txBody>
      </p:sp>
      <p:graphicFrame>
        <p:nvGraphicFramePr>
          <p:cNvPr id="5" name="Table 0"/>
          <p:cNvGraphicFramePr>
            <a:graphicFrameLocks noGrp="1"/>
          </p:cNvGraphicFramePr>
          <p:nvPr/>
        </p:nvGraphicFramePr>
        <p:xfrm>
          <a:off x="502920" y="1170432"/>
          <a:ext cx="7882128" cy="3530000"/>
        </p:xfrm>
        <a:graphic>
          <a:graphicData uri="http://schemas.openxmlformats.org/drawingml/2006/table">
            <a:tbl>
              <a:tblPr/>
              <a:tblGrid>
                <a:gridCol w="400000">
                  <a:extLst>
                    <a:ext uri="{9D8B030D-6E8A-4147-A177-3AD203B41FA5}">
                      <a16:colId xmlns:a16="http://schemas.microsoft.com/office/drawing/2014/main" val="20000"/>
                    </a:ext>
                  </a:extLst>
                </a:gridCol>
                <a:gridCol w="190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gridCol w="1500000">
                  <a:extLst>
                    <a:ext uri="{9D8B030D-6E8A-4147-A177-3AD203B41FA5}">
                      <a16:colId xmlns:a16="http://schemas.microsoft.com/office/drawing/2014/main" val="20003"/>
                    </a:ext>
                  </a:extLst>
                </a:gridCol>
                <a:gridCol w="1441128">
                  <a:extLst>
                    <a:ext uri="{9D8B030D-6E8A-4147-A177-3AD203B41FA5}">
                      <a16:colId xmlns:a16="http://schemas.microsoft.com/office/drawing/2014/main" val="20004"/>
                    </a:ext>
                  </a:extLst>
                </a:gridCol>
                <a:gridCol w="1341000">
                  <a:extLst>
                    <a:ext uri="{9D8B030D-6E8A-4147-A177-3AD203B41FA5}">
                      <a16:colId xmlns:a16="http://schemas.microsoft.com/office/drawing/2014/main" val="20005"/>
                    </a:ext>
                  </a:extLst>
                </a:gridCol>
              </a:tblGrid>
              <a:tr h="380000">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S.No</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Journal/Reference</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Algorithm/Technology</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Advantages</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Disadvantages</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Research Gap</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1050000">
                <a:tc>
                  <a:txBody>
                    <a:bodyPr/>
                    <a:lstStyle/>
                    <a:p>
                      <a:pPr marL="0" indent="0" algn="ctr">
                        <a:buNone/>
                      </a:pPr>
                      <a:r>
                        <a:rPr lang="en-US" sz="1000" b="0" dirty="0">
                          <a:solidFill>
                            <a:srgbClr val="000000"/>
                          </a:solidFill>
                          <a:latin typeface="Times New Roman" pitchFamily="34" charset="0"/>
                          <a:ea typeface="Times New Roman" pitchFamily="34" charset="-122"/>
                          <a:cs typeface="Times New Roman" pitchFamily="34" charset="-120"/>
                        </a:rPr>
                        <a:t>1</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Armbrust et al., </a:t>
                      </a:r>
                      <a:r>
                        <a:rPr lang="en-US" sz="1000" b="0" i="1" dirty="0">
                          <a:solidFill>
                            <a:srgbClr val="000000"/>
                          </a:solidFill>
                          <a:latin typeface="Times New Roman" pitchFamily="34" charset="0"/>
                          <a:ea typeface="Times New Roman" pitchFamily="34" charset="-122"/>
                          <a:cs typeface="Times New Roman" pitchFamily="34" charset="-120"/>
                        </a:rPr>
                        <a:t>Communications of the ACM</a:t>
                      </a:r>
                      <a:r>
                        <a:rPr lang="en-US" sz="1000" b="0" dirty="0">
                          <a:solidFill>
                            <a:srgbClr val="000000"/>
                          </a:solidFill>
                          <a:latin typeface="Times New Roman" pitchFamily="34" charset="0"/>
                          <a:ea typeface="Times New Roman" pitchFamily="34" charset="-122"/>
                          <a:cs typeface="Times New Roman" pitchFamily="34" charset="-120"/>
                        </a:rPr>
                        <a:t>, 2010 – A View of Cloud Computing</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Cloud service models (IaaS/PaaS/SaaS); elastic resource provisioning</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Identifies elasticity and pay-per-use as the core benefits that justify moving storage and sync workloads to the cloud</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High-level conceptual survey; proposes no concrete synchronization mechanism</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Flags data lock-in and availability as open challenges but leaves cross-device sync unaddressed</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1"/>
                  </a:ext>
                </a:extLst>
              </a:tr>
              <a:tr h="1050000">
                <a:tc>
                  <a:txBody>
                    <a:bodyPr/>
                    <a:lstStyle/>
                    <a:p>
                      <a:pPr marL="0" indent="0" algn="ctr">
                        <a:buNone/>
                      </a:pPr>
                      <a:r>
                        <a:rPr lang="en-US" sz="1000" b="0" dirty="0">
                          <a:solidFill>
                            <a:srgbClr val="000000"/>
                          </a:solidFill>
                          <a:latin typeface="Times New Roman" pitchFamily="34" charset="0"/>
                          <a:ea typeface="Times New Roman" pitchFamily="34" charset="-122"/>
                          <a:cs typeface="Times New Roman" pitchFamily="34" charset="-120"/>
                        </a:rPr>
                        <a:t>2</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Mell &amp; Grance, </a:t>
                      </a:r>
                      <a:r>
                        <a:rPr lang="en-US" sz="1000" b="0" i="1" dirty="0">
                          <a:solidFill>
                            <a:srgbClr val="000000"/>
                          </a:solidFill>
                          <a:latin typeface="Times New Roman" pitchFamily="34" charset="0"/>
                          <a:ea typeface="Times New Roman" pitchFamily="34" charset="-122"/>
                          <a:cs typeface="Times New Roman" pitchFamily="34" charset="-120"/>
                        </a:rPr>
                        <a:t>NIST Special Publication 800-145</a:t>
                      </a:r>
                      <a:r>
                        <a:rPr lang="en-US" sz="1000" b="0" dirty="0">
                          <a:solidFill>
                            <a:srgbClr val="000000"/>
                          </a:solidFill>
                          <a:latin typeface="Times New Roman" pitchFamily="34" charset="0"/>
                          <a:ea typeface="Times New Roman" pitchFamily="34" charset="-122"/>
                          <a:cs typeface="Times New Roman" pitchFamily="34" charset="-120"/>
                        </a:rPr>
                        <a:t>, 2011 – The NIST Definition of Cloud Computing</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Formal cloud service and deployment model taxonomy</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Provides the standard definitions used to classify storage-as-a-service systems</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Purely definitional; no implementation guidance or performance evaluation</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Defines cloud characteristics but does not translate them into a working sync architecture</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2"/>
                  </a:ext>
                </a:extLst>
              </a:tr>
              <a:tr h="1050000">
                <a:tc>
                  <a:txBody>
                    <a:bodyPr/>
                    <a:lstStyle/>
                    <a:p>
                      <a:pPr marL="0" indent="0" algn="ctr">
                        <a:buNone/>
                      </a:pPr>
                      <a:r>
                        <a:rPr lang="en-US" sz="1000" b="0" dirty="0">
                          <a:solidFill>
                            <a:srgbClr val="000000"/>
                          </a:solidFill>
                          <a:latin typeface="Times New Roman" pitchFamily="34" charset="0"/>
                          <a:ea typeface="Times New Roman" pitchFamily="34" charset="-122"/>
                          <a:cs typeface="Times New Roman" pitchFamily="34" charset="-120"/>
                        </a:rPr>
                        <a:t>3</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Drago et al., </a:t>
                      </a:r>
                      <a:r>
                        <a:rPr lang="en-US" sz="1000" b="0" i="1" dirty="0">
                          <a:solidFill>
                            <a:srgbClr val="000000"/>
                          </a:solidFill>
                          <a:latin typeface="Times New Roman" pitchFamily="34" charset="0"/>
                          <a:ea typeface="Times New Roman" pitchFamily="34" charset="-122"/>
                          <a:cs typeface="Times New Roman" pitchFamily="34" charset="-120"/>
                        </a:rPr>
                        <a:t>ACM Internet Measurement Conference (IMC)</a:t>
                      </a:r>
                      <a:r>
                        <a:rPr lang="en-US" sz="1000" b="0" dirty="0">
                          <a:solidFill>
                            <a:srgbClr val="000000"/>
                          </a:solidFill>
                          <a:latin typeface="Times New Roman" pitchFamily="34" charset="0"/>
                          <a:ea typeface="Times New Roman" pitchFamily="34" charset="-122"/>
                          <a:cs typeface="Times New Roman" pitchFamily="34" charset="-120"/>
                        </a:rPr>
                        <a:t>, 2012 – Inside Dropbox: Understanding Personal Cloud Storage Services</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Passive network measurement of Dropbox's sync protocol</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Exposes real sync-protocol bottlenecks and latency tied to distance from data centres</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Observational only; proposes no fix for the inefficiencies it uncovers</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Measures sync inefficiency but does not design an improved synchronization mechanism</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2"/>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3"/>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Literature Review (Continued)</a:t>
            </a:r>
            <a:endParaRPr lang="en-US" sz="2200" dirty="0"/>
          </a:p>
        </p:txBody>
      </p:sp>
      <p:graphicFrame>
        <p:nvGraphicFramePr>
          <p:cNvPr id="5" name="Table 0"/>
          <p:cNvGraphicFramePr>
            <a:graphicFrameLocks noGrp="1"/>
          </p:cNvGraphicFramePr>
          <p:nvPr/>
        </p:nvGraphicFramePr>
        <p:xfrm>
          <a:off x="502920" y="1170432"/>
          <a:ext cx="7882128" cy="2680000"/>
        </p:xfrm>
        <a:graphic>
          <a:graphicData uri="http://schemas.openxmlformats.org/drawingml/2006/table">
            <a:tbl>
              <a:tblPr/>
              <a:tblGrid>
                <a:gridCol w="400000">
                  <a:extLst>
                    <a:ext uri="{9D8B030D-6E8A-4147-A177-3AD203B41FA5}">
                      <a16:colId xmlns:a16="http://schemas.microsoft.com/office/drawing/2014/main" val="20000"/>
                    </a:ext>
                  </a:extLst>
                </a:gridCol>
                <a:gridCol w="1900000">
                  <a:extLst>
                    <a:ext uri="{9D8B030D-6E8A-4147-A177-3AD203B41FA5}">
                      <a16:colId xmlns:a16="http://schemas.microsoft.com/office/drawing/2014/main" val="20001"/>
                    </a:ext>
                  </a:extLst>
                </a:gridCol>
                <a:gridCol w="1300000">
                  <a:extLst>
                    <a:ext uri="{9D8B030D-6E8A-4147-A177-3AD203B41FA5}">
                      <a16:colId xmlns:a16="http://schemas.microsoft.com/office/drawing/2014/main" val="20002"/>
                    </a:ext>
                  </a:extLst>
                </a:gridCol>
                <a:gridCol w="1500000">
                  <a:extLst>
                    <a:ext uri="{9D8B030D-6E8A-4147-A177-3AD203B41FA5}">
                      <a16:colId xmlns:a16="http://schemas.microsoft.com/office/drawing/2014/main" val="20003"/>
                    </a:ext>
                  </a:extLst>
                </a:gridCol>
                <a:gridCol w="1441128">
                  <a:extLst>
                    <a:ext uri="{9D8B030D-6E8A-4147-A177-3AD203B41FA5}">
                      <a16:colId xmlns:a16="http://schemas.microsoft.com/office/drawing/2014/main" val="20004"/>
                    </a:ext>
                  </a:extLst>
                </a:gridCol>
                <a:gridCol w="1341000">
                  <a:extLst>
                    <a:ext uri="{9D8B030D-6E8A-4147-A177-3AD203B41FA5}">
                      <a16:colId xmlns:a16="http://schemas.microsoft.com/office/drawing/2014/main" val="20005"/>
                    </a:ext>
                  </a:extLst>
                </a:gridCol>
              </a:tblGrid>
              <a:tr h="380000">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S.No</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Journal/Reference</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Algorithm/Technology</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Advantages</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Disadvantages</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tc>
                  <a:txBody>
                    <a:bodyPr/>
                    <a:lstStyle/>
                    <a:p>
                      <a:pPr marL="0" indent="0" algn="ctr">
                        <a:buNone/>
                      </a:pPr>
                      <a:r>
                        <a:rPr lang="en-US" sz="1050" b="1" dirty="0">
                          <a:solidFill>
                            <a:srgbClr val="FFFFFF"/>
                          </a:solidFill>
                          <a:latin typeface="Times New Roman" pitchFamily="34" charset="0"/>
                          <a:ea typeface="Times New Roman" pitchFamily="34" charset="-122"/>
                          <a:cs typeface="Times New Roman" pitchFamily="34" charset="-120"/>
                        </a:rPr>
                        <a:t>Research Gap</a:t>
                      </a:r>
                      <a:endParaRPr lang="en-US" sz="105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3A6B"/>
                    </a:solidFill>
                  </a:tcPr>
                </a:tc>
                <a:extLst>
                  <a:ext uri="{0D108BD9-81ED-4DB2-BD59-A6C34878D82A}">
                    <a16:rowId xmlns:a16="http://schemas.microsoft.com/office/drawing/2014/main" val="10000"/>
                  </a:ext>
                </a:extLst>
              </a:tr>
              <a:tr h="1150000">
                <a:tc>
                  <a:txBody>
                    <a:bodyPr/>
                    <a:lstStyle/>
                    <a:p>
                      <a:pPr marL="0" indent="0" algn="ctr">
                        <a:buNone/>
                      </a:pPr>
                      <a:r>
                        <a:rPr lang="en-US" sz="1000" b="0" dirty="0">
                          <a:solidFill>
                            <a:srgbClr val="000000"/>
                          </a:solidFill>
                          <a:latin typeface="Times New Roman" pitchFamily="34" charset="0"/>
                          <a:ea typeface="Times New Roman" pitchFamily="34" charset="-122"/>
                          <a:cs typeface="Times New Roman" pitchFamily="34" charset="-120"/>
                        </a:rPr>
                        <a:t>4</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Li et al., </a:t>
                      </a:r>
                      <a:r>
                        <a:rPr lang="en-US" sz="1000" b="0" i="1" dirty="0">
                          <a:solidFill>
                            <a:srgbClr val="000000"/>
                          </a:solidFill>
                          <a:latin typeface="Times New Roman" pitchFamily="34" charset="0"/>
                          <a:ea typeface="Times New Roman" pitchFamily="34" charset="-122"/>
                          <a:cs typeface="Times New Roman" pitchFamily="34" charset="-120"/>
                        </a:rPr>
                        <a:t>ACM/IFIP/USENIX Middleware Conference</a:t>
                      </a:r>
                      <a:r>
                        <a:rPr lang="en-US" sz="1000" b="0" dirty="0">
                          <a:solidFill>
                            <a:srgbClr val="000000"/>
                          </a:solidFill>
                          <a:latin typeface="Times New Roman" pitchFamily="34" charset="0"/>
                          <a:ea typeface="Times New Roman" pitchFamily="34" charset="-122"/>
                          <a:cs typeface="Times New Roman" pitchFamily="34" charset="-120"/>
                        </a:rPr>
                        <a:t>, 2013 – Efficient Batched Synchronization in Dropbox-like Cloud Storage Services</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Update-Batched Delayed Synchronization (UDS) middleware</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Cuts session-maintenance traffic by batching frequent small edits</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Targets bandwidth efficiency only; does not address security or conflict resolution</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Improves sync efficiency in isolation, without integrating authentication or encryption</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1"/>
                  </a:ext>
                </a:extLst>
              </a:tr>
              <a:tr h="1150000">
                <a:tc>
                  <a:txBody>
                    <a:bodyPr/>
                    <a:lstStyle/>
                    <a:p>
                      <a:pPr marL="0" indent="0" algn="ctr">
                        <a:buNone/>
                      </a:pPr>
                      <a:r>
                        <a:rPr lang="en-US" sz="1000" b="0" dirty="0">
                          <a:solidFill>
                            <a:srgbClr val="000000"/>
                          </a:solidFill>
                          <a:latin typeface="Times New Roman" pitchFamily="34" charset="0"/>
                          <a:ea typeface="Times New Roman" pitchFamily="34" charset="-122"/>
                          <a:cs typeface="Times New Roman" pitchFamily="34" charset="-120"/>
                        </a:rPr>
                        <a:t>5</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Kamara &amp; Lauter, </a:t>
                      </a:r>
                      <a:r>
                        <a:rPr lang="en-US" sz="1000" b="0" i="1" dirty="0">
                          <a:solidFill>
                            <a:srgbClr val="000000"/>
                          </a:solidFill>
                          <a:latin typeface="Times New Roman" pitchFamily="34" charset="0"/>
                          <a:ea typeface="Times New Roman" pitchFamily="34" charset="-122"/>
                          <a:cs typeface="Times New Roman" pitchFamily="34" charset="-120"/>
                        </a:rPr>
                        <a:t>Financial Cryptography and Data Security</a:t>
                      </a:r>
                      <a:r>
                        <a:rPr lang="en-US" sz="1000" b="0" dirty="0">
                          <a:solidFill>
                            <a:srgbClr val="000000"/>
                          </a:solidFill>
                          <a:latin typeface="Times New Roman" pitchFamily="34" charset="0"/>
                          <a:ea typeface="Times New Roman" pitchFamily="34" charset="-122"/>
                          <a:cs typeface="Times New Roman" pitchFamily="34" charset="-120"/>
                        </a:rPr>
                        <a:t>, 2010 – Cryptographic Cloud Storage</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Searchable and homomorphic encryption primitives for untrusted storage</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Keeps data confidential and verifiable even when the provider is not fully trusted</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Conceptual architecture; does not address multi-device real-time synchronization</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marL="0" indent="0" algn="just">
                        <a:buNone/>
                      </a:pPr>
                      <a:r>
                        <a:rPr lang="en-US" sz="1000" b="0" dirty="0">
                          <a:solidFill>
                            <a:srgbClr val="000000"/>
                          </a:solidFill>
                          <a:latin typeface="Times New Roman" pitchFamily="34" charset="0"/>
                          <a:ea typeface="Times New Roman" pitchFamily="34" charset="-122"/>
                          <a:cs typeface="Times New Roman" pitchFamily="34" charset="-120"/>
                        </a:rPr>
                        <a:t>Secures data at rest but does not integrate with cross-device sync workflows</a:t>
                      </a:r>
                      <a:endParaRPr lang="en-US" sz="1000" dirty="0">
                        <a:latin typeface="Times New Roman" charset="0"/>
                        <a:ea typeface="Times New Roman" charset="0"/>
                        <a:cs typeface="Times New Roman" charset="0"/>
                      </a:endParaRPr>
                    </a:p>
                  </a:txBody>
                  <a:tcPr marL="45720" marR="45720" marT="27432" marB="27432"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1"/>
          <p:cNvSpPr/>
          <p:nvPr/>
        </p:nvSpPr>
        <p:spPr>
          <a:xfrm>
            <a:off x="502920" y="4050000"/>
            <a:ext cx="7882128" cy="800000"/>
          </a:xfrm>
          <a:prstGeom prst="rect">
            <a:avLst/>
          </a:prstGeom>
          <a:noFill/>
          <a:ln/>
        </p:spPr>
        <p:txBody>
          <a:bodyPr wrap="square" rtlCol="0" anchor="t"/>
          <a:lstStyle/>
          <a:p>
            <a:pPr marL="0" indent="0">
              <a:buNone/>
            </a:pPr>
            <a:r>
              <a:rPr lang="en-US" sz="1100" i="1" dirty="0">
                <a:solidFill>
                  <a:srgbClr val="3A3F47"/>
                </a:solidFill>
                <a:latin typeface="Times New Roman" pitchFamily="34" charset="0"/>
                <a:ea typeface="Times New Roman" pitchFamily="34" charset="-122"/>
                <a:cs typeface="Times New Roman" pitchFamily="34" charset="-120"/>
              </a:rPr>
              <a:t>Overall Research Gap: Prior work studies synchronization performance, protocol efficiency, and encryption separately — this project integrates efficient cross-device synchronization with secure, unified access in a single system.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Problem Statements</a:t>
            </a:r>
            <a:endParaRPr lang="en-US" sz="2400" dirty="0"/>
          </a:p>
        </p:txBody>
      </p:sp>
      <p:sp>
        <p:nvSpPr>
          <p:cNvPr id="5" name="Text 1"/>
          <p:cNvSpPr/>
          <p:nvPr/>
        </p:nvSpPr>
        <p:spPr>
          <a:xfrm>
            <a:off x="502920" y="1298448"/>
            <a:ext cx="7882128" cy="3520440"/>
          </a:xfrm>
          <a:prstGeom prst="rect">
            <a:avLst/>
          </a:prstGeom>
          <a:noFill/>
          <a:ln/>
        </p:spPr>
        <p:txBody>
          <a:bodyPr wrap="square" rtlCol="0" anchor="t"/>
          <a:lstStyle/>
          <a:p>
            <a:pPr marL="228600" indent="-228600">
              <a:lnSpc>
                <a:spcPct val="108000"/>
              </a:lnSpc>
              <a:spcAft>
                <a:spcPts val="16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Users who work across multiple devices and operating systems often struggle to keep files consistent, leading to version mismatches and lost work.</a:t>
            </a:r>
            <a:endParaRPr lang="en-US" sz="1600" dirty="0"/>
          </a:p>
          <a:p>
            <a:pPr marL="228600" indent="-228600">
              <a:lnSpc>
                <a:spcPct val="108000"/>
              </a:lnSpc>
              <a:spcAft>
                <a:spcPts val="16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Manually transferring files between devices using USB drives or email is time-consuming and prone to errors.</a:t>
            </a:r>
            <a:endParaRPr lang="en-US" sz="1600" dirty="0"/>
          </a:p>
          <a:p>
            <a:pPr marL="228600" indent="-228600">
              <a:lnSpc>
                <a:spcPct val="108000"/>
              </a:lnSpc>
              <a:spcAft>
                <a:spcPts val="16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Existing synchronization tools may not efficiently handle large files, conflicting edits, or interrupted network connections during sync.</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Objectives</a:t>
            </a:r>
            <a:endParaRPr lang="en-US" sz="2400" dirty="0"/>
          </a:p>
        </p:txBody>
      </p:sp>
      <p:sp>
        <p:nvSpPr>
          <p:cNvPr id="5" name="Text 1"/>
          <p:cNvSpPr/>
          <p:nvPr/>
        </p:nvSpPr>
        <p:spPr>
          <a:xfrm>
            <a:off x="502920" y="1298448"/>
            <a:ext cx="7882128" cy="3520440"/>
          </a:xfrm>
          <a:prstGeom prst="rect">
            <a:avLst/>
          </a:prstGeom>
          <a:noFill/>
          <a:ln/>
        </p:spPr>
        <p:txBody>
          <a:bodyPr wrap="square" rtlCol="0" anchor="t"/>
          <a:lstStyle/>
          <a:p>
            <a:pPr marL="228600" indent="-228600">
              <a:lnSpc>
                <a:spcPct val="108000"/>
              </a:lnSpc>
              <a:spcAft>
                <a:spcPts val="16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To design a cloud-based storage system that provides consistent file access across Windows, macOS, Linux, Android, and iOS platforms.</a:t>
            </a:r>
            <a:endParaRPr lang="en-US" sz="1600" dirty="0"/>
          </a:p>
          <a:p>
            <a:pPr marL="228600" indent="-228600">
              <a:lnSpc>
                <a:spcPct val="108000"/>
              </a:lnSpc>
              <a:spcAft>
                <a:spcPts val="16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To implement automatic, real-time synchronization with conflict detection and resolution for files edited on multiple devices.</a:t>
            </a:r>
            <a:endParaRPr lang="en-US" sz="1600" dirty="0"/>
          </a:p>
          <a:p>
            <a:pPr marL="228600" indent="-228600">
              <a:lnSpc>
                <a:spcPct val="108000"/>
              </a:lnSpc>
              <a:spcAft>
                <a:spcPts val="16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To ensure secure, efficient data transfer using authentication, encryption, and delta synchronization to reduce bandwidth usage.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Module 1 – Cross-Platform Client &amp; Authentication</a:t>
            </a:r>
            <a:endParaRPr lang="en-US" sz="2200" dirty="0"/>
          </a:p>
        </p:txBody>
      </p:sp>
      <p:sp>
        <p:nvSpPr>
          <p:cNvPr id="5" name="Text 1"/>
          <p:cNvSpPr/>
          <p:nvPr/>
        </p:nvSpPr>
        <p:spPr>
          <a:xfrm>
            <a:off x="502920" y="1188720"/>
            <a:ext cx="7882128" cy="3657600"/>
          </a:xfrm>
          <a:prstGeom prst="rect">
            <a:avLst/>
          </a:prstGeom>
          <a:noFill/>
          <a:ln/>
        </p:spPr>
        <p:txBody>
          <a:bodyPr wrap="square" rtlCol="0" anchor="t"/>
          <a:lstStyle/>
          <a:p>
            <a:pPr marL="228600" indent="-228600">
              <a:lnSpc>
                <a:spcPct val="105000"/>
              </a:lnSpc>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Provides native client applications for desktop and mobile platforms.</a:t>
            </a:r>
            <a:endParaRPr lang="en-US" sz="1600" dirty="0"/>
          </a:p>
          <a:p>
            <a:pPr marL="228600" indent="-228600">
              <a:lnSpc>
                <a:spcPct val="105000"/>
              </a:lnSpc>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Authenticates users securely before granting access to cloud storage.</a:t>
            </a:r>
            <a:endParaRPr lang="en-US" sz="1600" dirty="0"/>
          </a:p>
          <a:p>
            <a:pPr marL="228600" indent="-228600">
              <a:lnSpc>
                <a:spcPct val="105000"/>
              </a:lnSpc>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Maintains a consistent user experience across all supported operating systems.</a:t>
            </a:r>
            <a:endParaRPr lang="en-US" sz="1600" dirty="0"/>
          </a:p>
          <a:p>
            <a:pPr marL="0" indent="0">
              <a:lnSpc>
                <a:spcPct val="105000"/>
              </a:lnSpc>
              <a:spcBef>
                <a:spcPts val="600"/>
              </a:spcBef>
              <a:spcAft>
                <a:spcPts val="400"/>
              </a:spcAft>
              <a:buNone/>
            </a:pPr>
            <a:r>
              <a:rPr lang="en-US" sz="1600" b="1" dirty="0">
                <a:solidFill>
                  <a:srgbClr val="000000"/>
                </a:solidFill>
                <a:latin typeface="Times New Roman" pitchFamily="34" charset="0"/>
                <a:ea typeface="Times New Roman" pitchFamily="34" charset="-122"/>
                <a:cs typeface="Times New Roman" pitchFamily="34" charset="-120"/>
              </a:rPr>
              <a:t>Features</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   User Registration &amp; Login</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ii.   Secure Token-Based Authentication</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iii.   Device Linking &amp; Management</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iv.   Cross-Platform File Explorer</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v.   Offline Access Mode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Module 2 – Storage &amp; Synchronization Engine</a:t>
            </a:r>
            <a:endParaRPr lang="en-US" sz="2200" dirty="0"/>
          </a:p>
        </p:txBody>
      </p:sp>
      <p:sp>
        <p:nvSpPr>
          <p:cNvPr id="5" name="Text 1"/>
          <p:cNvSpPr/>
          <p:nvPr/>
        </p:nvSpPr>
        <p:spPr>
          <a:xfrm>
            <a:off x="502920" y="1188720"/>
            <a:ext cx="7882128" cy="3657600"/>
          </a:xfrm>
          <a:prstGeom prst="rect">
            <a:avLst/>
          </a:prstGeom>
          <a:noFill/>
          <a:ln/>
        </p:spPr>
        <p:txBody>
          <a:bodyPr wrap="square" rtlCol="0" anchor="t"/>
          <a:lstStyle/>
          <a:p>
            <a:pPr marL="228600" indent="-228600">
              <a:lnSpc>
                <a:spcPct val="105000"/>
              </a:lnSpc>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Detects file changes on any connected device and propagates updates to the cloud and to other devices.</a:t>
            </a:r>
            <a:endParaRPr lang="en-US" sz="1600" dirty="0"/>
          </a:p>
          <a:p>
            <a:pPr marL="228600" indent="-228600">
              <a:lnSpc>
                <a:spcPct val="105000"/>
              </a:lnSpc>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Ensures data consistency using delta sync and conflict resolution.</a:t>
            </a:r>
            <a:endParaRPr lang="en-US" sz="1600" dirty="0"/>
          </a:p>
          <a:p>
            <a:pPr marL="0" indent="0">
              <a:lnSpc>
                <a:spcPct val="105000"/>
              </a:lnSpc>
              <a:spcBef>
                <a:spcPts val="600"/>
              </a:spcBef>
              <a:spcAft>
                <a:spcPts val="400"/>
              </a:spcAft>
              <a:buNone/>
            </a:pPr>
            <a:r>
              <a:rPr lang="en-US" sz="1600" b="1" dirty="0">
                <a:solidFill>
                  <a:srgbClr val="000000"/>
                </a:solidFill>
                <a:latin typeface="Times New Roman" pitchFamily="34" charset="0"/>
                <a:ea typeface="Times New Roman" pitchFamily="34" charset="-122"/>
                <a:cs typeface="Times New Roman" pitchFamily="34" charset="-120"/>
              </a:rPr>
              <a:t>Features</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   Real-Time File Sync</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ii.   Delta (Incremental) Synchronization</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iii.   Conflict Detection &amp; Resolution</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iv.   File Versioning &amp; History</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v.   Selective Sync</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vi.   Background Sync Scheduling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200" b="1" dirty="0">
                <a:solidFill>
                  <a:srgbClr val="000000"/>
                </a:solidFill>
                <a:latin typeface="Times New Roman" pitchFamily="34" charset="0"/>
                <a:ea typeface="Times New Roman" pitchFamily="34" charset="-122"/>
                <a:cs typeface="Times New Roman" pitchFamily="34" charset="-120"/>
              </a:rPr>
              <a:t>Module 3 – Cloud Storage &amp; Security Management</a:t>
            </a:r>
            <a:endParaRPr lang="en-US" sz="2200" dirty="0"/>
          </a:p>
        </p:txBody>
      </p:sp>
      <p:sp>
        <p:nvSpPr>
          <p:cNvPr id="5" name="Text 1"/>
          <p:cNvSpPr/>
          <p:nvPr/>
        </p:nvSpPr>
        <p:spPr>
          <a:xfrm>
            <a:off x="502920" y="1188720"/>
            <a:ext cx="7882128" cy="3657600"/>
          </a:xfrm>
          <a:prstGeom prst="rect">
            <a:avLst/>
          </a:prstGeom>
          <a:noFill/>
          <a:ln/>
        </p:spPr>
        <p:txBody>
          <a:bodyPr wrap="square" rtlCol="0" anchor="t"/>
          <a:lstStyle/>
          <a:p>
            <a:pPr marL="228600" indent="-228600">
              <a:lnSpc>
                <a:spcPct val="105000"/>
              </a:lnSpc>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Hosts and manages user data on a scalable cloud storage backend.</a:t>
            </a:r>
            <a:endParaRPr lang="en-US" sz="1600" dirty="0"/>
          </a:p>
          <a:p>
            <a:pPr marL="228600" indent="-228600">
              <a:lnSpc>
                <a:spcPct val="105000"/>
              </a:lnSpc>
              <a:spcAft>
                <a:spcPts val="800"/>
              </a:spcAft>
              <a:buSzPct val="100000"/>
              <a:buChar char="•"/>
            </a:pPr>
            <a:r>
              <a:rPr lang="en-US" sz="1600" dirty="0">
                <a:solidFill>
                  <a:srgbClr val="000000"/>
                </a:solidFill>
                <a:latin typeface="Times New Roman" pitchFamily="34" charset="0"/>
                <a:ea typeface="Times New Roman" pitchFamily="34" charset="-122"/>
                <a:cs typeface="Times New Roman" pitchFamily="34" charset="-120"/>
              </a:rPr>
              <a:t>Protects data through encryption and access control policies.</a:t>
            </a:r>
            <a:endParaRPr lang="en-US" sz="1600" dirty="0"/>
          </a:p>
          <a:p>
            <a:pPr marL="0" indent="0">
              <a:lnSpc>
                <a:spcPct val="105000"/>
              </a:lnSpc>
              <a:spcBef>
                <a:spcPts val="600"/>
              </a:spcBef>
              <a:spcAft>
                <a:spcPts val="400"/>
              </a:spcAft>
              <a:buNone/>
            </a:pPr>
            <a:r>
              <a:rPr lang="en-US" sz="1600" b="1" dirty="0">
                <a:solidFill>
                  <a:srgbClr val="000000"/>
                </a:solidFill>
                <a:latin typeface="Times New Roman" pitchFamily="34" charset="0"/>
                <a:ea typeface="Times New Roman" pitchFamily="34" charset="-122"/>
                <a:cs typeface="Times New Roman" pitchFamily="34" charset="-120"/>
              </a:rPr>
              <a:t>Features</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   Cloud Storage Hosting</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ii.   End-to-End Encryption</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iii.   Access Control &amp; File Sharing</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iv.   Storage Quota Management</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v.   Auto Backup</a:t>
            </a:r>
            <a:endParaRPr lang="en-US" sz="1600" dirty="0"/>
          </a:p>
          <a:p>
            <a:pPr marL="0" lvl="1" indent="0">
              <a:lnSpc>
                <a:spcPct val="105000"/>
              </a:lnSpc>
              <a:spcAft>
                <a:spcPts val="300"/>
              </a:spcAft>
              <a:buNone/>
            </a:pPr>
            <a:r>
              <a:rPr lang="en-US" sz="1500" dirty="0">
                <a:solidFill>
                  <a:srgbClr val="000000"/>
                </a:solidFill>
                <a:latin typeface="Times New Roman" pitchFamily="34" charset="0"/>
                <a:ea typeface="Times New Roman" pitchFamily="34" charset="-122"/>
                <a:cs typeface="Times New Roman" pitchFamily="34" charset="-120"/>
              </a:rPr>
              <a:t>vi.   Usage Monitoring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Techniques Used</a:t>
            </a:r>
            <a:endParaRPr lang="en-US" sz="2400" dirty="0"/>
          </a:p>
        </p:txBody>
      </p:sp>
      <p:sp>
        <p:nvSpPr>
          <p:cNvPr id="5" name="Text 1"/>
          <p:cNvSpPr/>
          <p:nvPr/>
        </p:nvSpPr>
        <p:spPr>
          <a:xfrm>
            <a:off x="502920" y="1298448"/>
            <a:ext cx="7882128" cy="3520440"/>
          </a:xfrm>
          <a:prstGeom prst="rect">
            <a:avLst/>
          </a:prstGeom>
          <a:noFill/>
          <a:ln/>
        </p:spPr>
        <p:txBody>
          <a:bodyPr wrap="square" rtlCol="0" anchor="t"/>
          <a:lstStyle/>
          <a:p>
            <a:pPr marL="228600" indent="-228600">
              <a:lnSpc>
                <a:spcPct val="108000"/>
              </a:lnSpc>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Distributed Cloud Storage</a:t>
            </a:r>
            <a:endParaRPr lang="en-US" sz="1700" dirty="0"/>
          </a:p>
          <a:p>
            <a:pPr marL="228600" indent="-228600">
              <a:lnSpc>
                <a:spcPct val="108000"/>
              </a:lnSpc>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Delta Synchronization Algorithms</a:t>
            </a:r>
            <a:endParaRPr lang="en-US" sz="1700" dirty="0"/>
          </a:p>
          <a:p>
            <a:pPr marL="228600" indent="-228600">
              <a:lnSpc>
                <a:spcPct val="108000"/>
              </a:lnSpc>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Conflict Detection &amp; Resolution</a:t>
            </a:r>
            <a:endParaRPr lang="en-US" sz="1700" dirty="0"/>
          </a:p>
          <a:p>
            <a:pPr marL="228600" indent="-228600">
              <a:lnSpc>
                <a:spcPct val="108000"/>
              </a:lnSpc>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End-to-End Encryption</a:t>
            </a:r>
            <a:endParaRPr lang="en-US" sz="1700" dirty="0"/>
          </a:p>
          <a:p>
            <a:pPr marL="228600" indent="-228600">
              <a:lnSpc>
                <a:spcPct val="108000"/>
              </a:lnSpc>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Token-Based Authentication (OAuth)</a:t>
            </a:r>
            <a:endParaRPr lang="en-US" sz="1700" dirty="0"/>
          </a:p>
          <a:p>
            <a:pPr marL="228600" indent="-228600">
              <a:lnSpc>
                <a:spcPct val="108000"/>
              </a:lnSpc>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Load Balancing</a:t>
            </a:r>
            <a:endParaRPr lang="en-US" sz="1700" dirty="0"/>
          </a:p>
          <a:p>
            <a:pPr marL="228600" indent="-228600">
              <a:lnSpc>
                <a:spcPct val="108000"/>
              </a:lnSpc>
              <a:spcAft>
                <a:spcPts val="1200"/>
              </a:spcAft>
              <a:buSzPct val="100000"/>
              <a:buChar char="•"/>
            </a:pPr>
            <a:r>
              <a:rPr lang="en-US" sz="1700" dirty="0">
                <a:solidFill>
                  <a:srgbClr val="000000"/>
                </a:solidFill>
                <a:latin typeface="Times New Roman" pitchFamily="34" charset="0"/>
                <a:ea typeface="Times New Roman" pitchFamily="34" charset="-122"/>
                <a:cs typeface="Times New Roman" pitchFamily="34" charset="-120"/>
              </a:rPr>
              <a:t>File Versioning</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Screenshot of Application</a:t>
            </a:r>
            <a:endParaRPr lang="en-US" sz="2400" dirty="0"/>
          </a:p>
        </p:txBody>
      </p:sp>
      <p:sp>
        <p:nvSpPr>
          <p:cNvPr id="5" name="Text 1"/>
          <p:cNvSpPr/>
          <p:nvPr/>
        </p:nvSpPr>
        <p:spPr>
          <a:xfrm>
            <a:off x="685800" y="1033272"/>
            <a:ext cx="3383280" cy="32004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Login</a:t>
            </a:r>
            <a:endParaRPr lang="en-US" sz="1400" dirty="0"/>
          </a:p>
        </p:txBody>
      </p:sp>
      <p:sp>
        <p:nvSpPr>
          <p:cNvPr id="6" name="Shape 2"/>
          <p:cNvSpPr/>
          <p:nvPr/>
        </p:nvSpPr>
        <p:spPr>
          <a:xfrm>
            <a:off x="685800" y="1417320"/>
            <a:ext cx="3383280" cy="3108960"/>
          </a:xfrm>
          <a:prstGeom prst="roundRect">
            <a:avLst>
              <a:gd name="adj" fmla="val 2353"/>
            </a:avLst>
          </a:prstGeom>
          <a:solidFill>
            <a:srgbClr val="F4F6F9"/>
          </a:solidFill>
          <a:ln w="12700">
            <a:solidFill>
              <a:srgbClr val="C9CFD8"/>
            </a:solidFill>
            <a:prstDash val="solid"/>
          </a:ln>
        </p:spPr>
      </p:sp>
      <p:sp>
        <p:nvSpPr>
          <p:cNvPr id="7" name="Shape 3"/>
          <p:cNvSpPr/>
          <p:nvPr/>
        </p:nvSpPr>
        <p:spPr>
          <a:xfrm>
            <a:off x="1051560" y="2057400"/>
            <a:ext cx="2651760" cy="685800"/>
          </a:xfrm>
          <a:prstGeom prst="rect">
            <a:avLst/>
          </a:prstGeom>
          <a:solidFill>
            <a:srgbClr val="1B3A6B"/>
          </a:solidFill>
          <a:ln/>
        </p:spPr>
      </p:sp>
      <p:sp>
        <p:nvSpPr>
          <p:cNvPr id="8" name="Text 4"/>
          <p:cNvSpPr/>
          <p:nvPr/>
        </p:nvSpPr>
        <p:spPr>
          <a:xfrm>
            <a:off x="1051560" y="2057400"/>
            <a:ext cx="2651760" cy="685800"/>
          </a:xfrm>
          <a:prstGeom prst="rect">
            <a:avLst/>
          </a:prstGeom>
          <a:noFill/>
          <a:ln/>
        </p:spPr>
        <p:txBody>
          <a:bodyPr wrap="square" rtlCol="0" anchor="ctr"/>
          <a:lstStyle/>
          <a:p>
            <a:pPr marL="0" indent="0" algn="ctr">
              <a:buNone/>
            </a:pPr>
            <a:r>
              <a:rPr lang="en-US" sz="1600" b="1" dirty="0">
                <a:solidFill>
                  <a:srgbClr val="FFFFFF"/>
                </a:solidFill>
                <a:latin typeface="Times New Roman" pitchFamily="34" charset="0"/>
                <a:ea typeface="Times New Roman" pitchFamily="34" charset="-122"/>
                <a:cs typeface="Times New Roman" pitchFamily="34" charset="-120"/>
              </a:rPr>
              <a:t>CloudSync</a:t>
            </a:r>
            <a:endParaRPr lang="en-US" sz="1600" dirty="0"/>
          </a:p>
        </p:txBody>
      </p:sp>
      <p:sp>
        <p:nvSpPr>
          <p:cNvPr id="9" name="Shape 5"/>
          <p:cNvSpPr/>
          <p:nvPr/>
        </p:nvSpPr>
        <p:spPr>
          <a:xfrm>
            <a:off x="1051560" y="2926080"/>
            <a:ext cx="2651760" cy="365760"/>
          </a:xfrm>
          <a:prstGeom prst="roundRect">
            <a:avLst>
              <a:gd name="adj" fmla="val 12500"/>
            </a:avLst>
          </a:prstGeom>
          <a:solidFill>
            <a:srgbClr val="FFFFFF"/>
          </a:solidFill>
          <a:ln w="12700">
            <a:solidFill>
              <a:srgbClr val="AAB4C0"/>
            </a:solidFill>
            <a:prstDash val="solid"/>
          </a:ln>
        </p:spPr>
      </p:sp>
      <p:sp>
        <p:nvSpPr>
          <p:cNvPr id="10" name="Text 6"/>
          <p:cNvSpPr/>
          <p:nvPr/>
        </p:nvSpPr>
        <p:spPr>
          <a:xfrm>
            <a:off x="1188720" y="2926080"/>
            <a:ext cx="2377440" cy="365760"/>
          </a:xfrm>
          <a:prstGeom prst="rect">
            <a:avLst/>
          </a:prstGeom>
          <a:noFill/>
          <a:ln/>
        </p:spPr>
        <p:txBody>
          <a:bodyPr wrap="square" rtlCol="0" anchor="ctr"/>
          <a:lstStyle/>
          <a:p>
            <a:pPr marL="0" indent="0">
              <a:buNone/>
            </a:pPr>
            <a:r>
              <a:rPr lang="en-US" sz="1000" dirty="0">
                <a:solidFill>
                  <a:srgbClr val="8A93A0"/>
                </a:solidFill>
                <a:latin typeface="Times New Roman" pitchFamily="34" charset="0"/>
                <a:ea typeface="Times New Roman" pitchFamily="34" charset="-122"/>
                <a:cs typeface="Times New Roman" pitchFamily="34" charset="-120"/>
              </a:rPr>
              <a:t>Username / Email</a:t>
            </a:r>
            <a:endParaRPr lang="en-US" sz="1000" dirty="0"/>
          </a:p>
        </p:txBody>
      </p:sp>
      <p:sp>
        <p:nvSpPr>
          <p:cNvPr id="11" name="Shape 7"/>
          <p:cNvSpPr/>
          <p:nvPr/>
        </p:nvSpPr>
        <p:spPr>
          <a:xfrm>
            <a:off x="1051560" y="3429000"/>
            <a:ext cx="2651760" cy="365760"/>
          </a:xfrm>
          <a:prstGeom prst="roundRect">
            <a:avLst>
              <a:gd name="adj" fmla="val 12500"/>
            </a:avLst>
          </a:prstGeom>
          <a:solidFill>
            <a:srgbClr val="FFFFFF"/>
          </a:solidFill>
          <a:ln w="12700">
            <a:solidFill>
              <a:srgbClr val="AAB4C0"/>
            </a:solidFill>
            <a:prstDash val="solid"/>
          </a:ln>
        </p:spPr>
      </p:sp>
      <p:sp>
        <p:nvSpPr>
          <p:cNvPr id="12" name="Text 8"/>
          <p:cNvSpPr/>
          <p:nvPr/>
        </p:nvSpPr>
        <p:spPr>
          <a:xfrm>
            <a:off x="1188720" y="3429000"/>
            <a:ext cx="2377440" cy="365760"/>
          </a:xfrm>
          <a:prstGeom prst="rect">
            <a:avLst/>
          </a:prstGeom>
          <a:noFill/>
          <a:ln/>
        </p:spPr>
        <p:txBody>
          <a:bodyPr wrap="square" rtlCol="0" anchor="ctr"/>
          <a:lstStyle/>
          <a:p>
            <a:pPr marL="0" indent="0">
              <a:buNone/>
            </a:pPr>
            <a:r>
              <a:rPr lang="en-US" sz="1000" dirty="0">
                <a:solidFill>
                  <a:srgbClr val="8A93A0"/>
                </a:solidFill>
                <a:latin typeface="Times New Roman" pitchFamily="34" charset="0"/>
                <a:ea typeface="Times New Roman" pitchFamily="34" charset="-122"/>
                <a:cs typeface="Times New Roman" pitchFamily="34" charset="-120"/>
              </a:rPr>
              <a:t>Password</a:t>
            </a:r>
            <a:endParaRPr lang="en-US" sz="1000" dirty="0"/>
          </a:p>
        </p:txBody>
      </p:sp>
      <p:sp>
        <p:nvSpPr>
          <p:cNvPr id="13" name="Shape 9"/>
          <p:cNvSpPr/>
          <p:nvPr/>
        </p:nvSpPr>
        <p:spPr>
          <a:xfrm>
            <a:off x="1051560" y="3931920"/>
            <a:ext cx="2651760" cy="384048"/>
          </a:xfrm>
          <a:prstGeom prst="roundRect">
            <a:avLst>
              <a:gd name="adj" fmla="val 14286"/>
            </a:avLst>
          </a:prstGeom>
          <a:solidFill>
            <a:srgbClr val="2E7D32"/>
          </a:solidFill>
          <a:ln/>
        </p:spPr>
      </p:sp>
      <p:sp>
        <p:nvSpPr>
          <p:cNvPr id="14" name="Text 10"/>
          <p:cNvSpPr/>
          <p:nvPr/>
        </p:nvSpPr>
        <p:spPr>
          <a:xfrm>
            <a:off x="1051560" y="3931920"/>
            <a:ext cx="2651760" cy="38404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Sign In</a:t>
            </a:r>
            <a:endParaRPr lang="en-US" sz="1200" dirty="0"/>
          </a:p>
        </p:txBody>
      </p:sp>
      <p:sp>
        <p:nvSpPr>
          <p:cNvPr id="15" name="Text 11"/>
          <p:cNvSpPr/>
          <p:nvPr/>
        </p:nvSpPr>
        <p:spPr>
          <a:xfrm>
            <a:off x="5074920" y="1033272"/>
            <a:ext cx="3383280" cy="320040"/>
          </a:xfrm>
          <a:prstGeom prst="rect">
            <a:avLst/>
          </a:prstGeom>
          <a:noFill/>
          <a:ln/>
        </p:spPr>
        <p:txBody>
          <a:bodyPr wrap="square" rtlCol="0" anchor="ctr"/>
          <a:lstStyle/>
          <a:p>
            <a:pPr marL="0" indent="0" algn="ctr">
              <a:buNone/>
            </a:pPr>
            <a:r>
              <a:rPr lang="en-US" sz="1400" b="1" dirty="0">
                <a:solidFill>
                  <a:srgbClr val="000000"/>
                </a:solidFill>
                <a:latin typeface="Times New Roman" pitchFamily="34" charset="0"/>
                <a:ea typeface="Times New Roman" pitchFamily="34" charset="-122"/>
                <a:cs typeface="Times New Roman" pitchFamily="34" charset="-120"/>
              </a:rPr>
              <a:t>Sync Dashboard</a:t>
            </a:r>
            <a:endParaRPr lang="en-US" sz="1400" dirty="0"/>
          </a:p>
        </p:txBody>
      </p:sp>
      <p:sp>
        <p:nvSpPr>
          <p:cNvPr id="16" name="Shape 12"/>
          <p:cNvSpPr/>
          <p:nvPr/>
        </p:nvSpPr>
        <p:spPr>
          <a:xfrm>
            <a:off x="5074920" y="1417320"/>
            <a:ext cx="3383280" cy="3108960"/>
          </a:xfrm>
          <a:prstGeom prst="roundRect">
            <a:avLst>
              <a:gd name="adj" fmla="val 2353"/>
            </a:avLst>
          </a:prstGeom>
          <a:solidFill>
            <a:srgbClr val="F4F6F9"/>
          </a:solidFill>
          <a:ln w="12700">
            <a:solidFill>
              <a:srgbClr val="C9CFD8"/>
            </a:solidFill>
            <a:prstDash val="solid"/>
          </a:ln>
        </p:spPr>
      </p:sp>
      <p:sp>
        <p:nvSpPr>
          <p:cNvPr id="17" name="Shape 13"/>
          <p:cNvSpPr/>
          <p:nvPr/>
        </p:nvSpPr>
        <p:spPr>
          <a:xfrm>
            <a:off x="5074920" y="1417320"/>
            <a:ext cx="3383280" cy="457200"/>
          </a:xfrm>
          <a:prstGeom prst="rect">
            <a:avLst/>
          </a:prstGeom>
          <a:solidFill>
            <a:srgbClr val="1B3A6B"/>
          </a:solidFill>
          <a:ln/>
        </p:spPr>
      </p:sp>
      <p:sp>
        <p:nvSpPr>
          <p:cNvPr id="18" name="Text 14"/>
          <p:cNvSpPr/>
          <p:nvPr/>
        </p:nvSpPr>
        <p:spPr>
          <a:xfrm>
            <a:off x="5257800" y="1417320"/>
            <a:ext cx="3017520" cy="457200"/>
          </a:xfrm>
          <a:prstGeom prst="rect">
            <a:avLst/>
          </a:prstGeom>
          <a:noFill/>
          <a:ln/>
        </p:spPr>
        <p:txBody>
          <a:bodyPr wrap="square" rtlCol="0" anchor="ctr"/>
          <a:lstStyle/>
          <a:p>
            <a:pPr marL="0" indent="0">
              <a:buNone/>
            </a:pPr>
            <a:r>
              <a:rPr lang="en-US" sz="1100" b="1" dirty="0">
                <a:solidFill>
                  <a:srgbClr val="FFFFFF"/>
                </a:solidFill>
                <a:latin typeface="Times New Roman" pitchFamily="34" charset="0"/>
                <a:ea typeface="Times New Roman" pitchFamily="34" charset="-122"/>
                <a:cs typeface="Times New Roman" pitchFamily="34" charset="-120"/>
              </a:rPr>
              <a:t>My Files — All devices synced</a:t>
            </a:r>
            <a:endParaRPr lang="en-US" sz="1100" dirty="0"/>
          </a:p>
        </p:txBody>
      </p:sp>
      <p:sp>
        <p:nvSpPr>
          <p:cNvPr id="19" name="Shape 15"/>
          <p:cNvSpPr/>
          <p:nvPr/>
        </p:nvSpPr>
        <p:spPr>
          <a:xfrm>
            <a:off x="5257800" y="2011680"/>
            <a:ext cx="3017520" cy="457200"/>
          </a:xfrm>
          <a:prstGeom prst="rect">
            <a:avLst/>
          </a:prstGeom>
          <a:solidFill>
            <a:srgbClr val="FFFFFF"/>
          </a:solidFill>
          <a:ln w="12700">
            <a:solidFill>
              <a:srgbClr val="E0E4EA"/>
            </a:solidFill>
            <a:prstDash val="solid"/>
          </a:ln>
        </p:spPr>
      </p:sp>
      <p:sp>
        <p:nvSpPr>
          <p:cNvPr id="20" name="Text 16"/>
          <p:cNvSpPr/>
          <p:nvPr/>
        </p:nvSpPr>
        <p:spPr>
          <a:xfrm>
            <a:off x="5394960" y="2011680"/>
            <a:ext cx="2011680" cy="457200"/>
          </a:xfrm>
          <a:prstGeom prst="rect">
            <a:avLst/>
          </a:prstGeom>
          <a:noFill/>
          <a:ln/>
        </p:spPr>
        <p:txBody>
          <a:bodyPr wrap="square" rtlCol="0" anchor="ct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Project_Report.docx</a:t>
            </a:r>
            <a:endParaRPr lang="en-US" sz="1100" dirty="0"/>
          </a:p>
        </p:txBody>
      </p:sp>
      <p:sp>
        <p:nvSpPr>
          <p:cNvPr id="21" name="Text 17"/>
          <p:cNvSpPr/>
          <p:nvPr/>
        </p:nvSpPr>
        <p:spPr>
          <a:xfrm>
            <a:off x="7086600" y="2011680"/>
            <a:ext cx="1097280" cy="457200"/>
          </a:xfrm>
          <a:prstGeom prst="rect">
            <a:avLst/>
          </a:prstGeom>
          <a:noFill/>
          <a:ln/>
        </p:spPr>
        <p:txBody>
          <a:bodyPr wrap="square" rtlCol="0" anchor="ctr"/>
          <a:lstStyle/>
          <a:p>
            <a:pPr marL="0" indent="0" algn="r">
              <a:buNone/>
            </a:pPr>
            <a:r>
              <a:rPr lang="en-US" sz="1000" b="1" dirty="0">
                <a:solidFill>
                  <a:srgbClr val="2E7D32"/>
                </a:solidFill>
                <a:latin typeface="Times New Roman" pitchFamily="34" charset="0"/>
                <a:ea typeface="Times New Roman" pitchFamily="34" charset="-122"/>
                <a:cs typeface="Times New Roman" pitchFamily="34" charset="-120"/>
              </a:rPr>
              <a:t>Synced</a:t>
            </a:r>
            <a:endParaRPr lang="en-US" sz="1000" dirty="0"/>
          </a:p>
        </p:txBody>
      </p:sp>
      <p:sp>
        <p:nvSpPr>
          <p:cNvPr id="22" name="Shape 18"/>
          <p:cNvSpPr/>
          <p:nvPr/>
        </p:nvSpPr>
        <p:spPr>
          <a:xfrm>
            <a:off x="5257800" y="2578608"/>
            <a:ext cx="3017520" cy="457200"/>
          </a:xfrm>
          <a:prstGeom prst="rect">
            <a:avLst/>
          </a:prstGeom>
          <a:solidFill>
            <a:srgbClr val="FFFFFF"/>
          </a:solidFill>
          <a:ln w="12700">
            <a:solidFill>
              <a:srgbClr val="E0E4EA"/>
            </a:solidFill>
            <a:prstDash val="solid"/>
          </a:ln>
        </p:spPr>
      </p:sp>
      <p:sp>
        <p:nvSpPr>
          <p:cNvPr id="23" name="Text 19"/>
          <p:cNvSpPr/>
          <p:nvPr/>
        </p:nvSpPr>
        <p:spPr>
          <a:xfrm>
            <a:off x="5394960" y="2578608"/>
            <a:ext cx="2011680" cy="457200"/>
          </a:xfrm>
          <a:prstGeom prst="rect">
            <a:avLst/>
          </a:prstGeom>
          <a:noFill/>
          <a:ln/>
        </p:spPr>
        <p:txBody>
          <a:bodyPr wrap="square" rtlCol="0" anchor="ct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Dataset.csv</a:t>
            </a:r>
            <a:endParaRPr lang="en-US" sz="1100" dirty="0"/>
          </a:p>
        </p:txBody>
      </p:sp>
      <p:sp>
        <p:nvSpPr>
          <p:cNvPr id="24" name="Text 20"/>
          <p:cNvSpPr/>
          <p:nvPr/>
        </p:nvSpPr>
        <p:spPr>
          <a:xfrm>
            <a:off x="7086600" y="2578608"/>
            <a:ext cx="1097280" cy="457200"/>
          </a:xfrm>
          <a:prstGeom prst="rect">
            <a:avLst/>
          </a:prstGeom>
          <a:noFill/>
          <a:ln/>
        </p:spPr>
        <p:txBody>
          <a:bodyPr wrap="square" rtlCol="0" anchor="ctr"/>
          <a:lstStyle/>
          <a:p>
            <a:pPr marL="0" indent="0" algn="r">
              <a:buNone/>
            </a:pPr>
            <a:r>
              <a:rPr lang="en-US" sz="1000" b="1" dirty="0">
                <a:solidFill>
                  <a:srgbClr val="B8860B"/>
                </a:solidFill>
                <a:latin typeface="Times New Roman" pitchFamily="34" charset="0"/>
                <a:ea typeface="Times New Roman" pitchFamily="34" charset="-122"/>
                <a:cs typeface="Times New Roman" pitchFamily="34" charset="-120"/>
              </a:rPr>
              <a:t>Syncing…</a:t>
            </a:r>
            <a:endParaRPr lang="en-US" sz="1000" dirty="0"/>
          </a:p>
        </p:txBody>
      </p:sp>
      <p:sp>
        <p:nvSpPr>
          <p:cNvPr id="25" name="Shape 21"/>
          <p:cNvSpPr/>
          <p:nvPr/>
        </p:nvSpPr>
        <p:spPr>
          <a:xfrm>
            <a:off x="5257800" y="3145536"/>
            <a:ext cx="3017520" cy="457200"/>
          </a:xfrm>
          <a:prstGeom prst="rect">
            <a:avLst/>
          </a:prstGeom>
          <a:solidFill>
            <a:srgbClr val="FFFFFF"/>
          </a:solidFill>
          <a:ln w="12700">
            <a:solidFill>
              <a:srgbClr val="E0E4EA"/>
            </a:solidFill>
            <a:prstDash val="solid"/>
          </a:ln>
        </p:spPr>
      </p:sp>
      <p:sp>
        <p:nvSpPr>
          <p:cNvPr id="26" name="Text 22"/>
          <p:cNvSpPr/>
          <p:nvPr/>
        </p:nvSpPr>
        <p:spPr>
          <a:xfrm>
            <a:off x="5394960" y="3145536"/>
            <a:ext cx="2011680" cy="457200"/>
          </a:xfrm>
          <a:prstGeom prst="rect">
            <a:avLst/>
          </a:prstGeom>
          <a:noFill/>
          <a:ln/>
        </p:spPr>
        <p:txBody>
          <a:bodyPr wrap="square" rtlCol="0" anchor="ct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Presentation.pptx</a:t>
            </a:r>
            <a:endParaRPr lang="en-US" sz="1100" dirty="0"/>
          </a:p>
        </p:txBody>
      </p:sp>
      <p:sp>
        <p:nvSpPr>
          <p:cNvPr id="27" name="Text 23"/>
          <p:cNvSpPr/>
          <p:nvPr/>
        </p:nvSpPr>
        <p:spPr>
          <a:xfrm>
            <a:off x="7086600" y="3145536"/>
            <a:ext cx="1097280" cy="457200"/>
          </a:xfrm>
          <a:prstGeom prst="rect">
            <a:avLst/>
          </a:prstGeom>
          <a:noFill/>
          <a:ln/>
        </p:spPr>
        <p:txBody>
          <a:bodyPr wrap="square" rtlCol="0" anchor="ctr"/>
          <a:lstStyle/>
          <a:p>
            <a:pPr marL="0" indent="0" algn="r">
              <a:buNone/>
            </a:pPr>
            <a:r>
              <a:rPr lang="en-US" sz="1000" b="1" dirty="0">
                <a:solidFill>
                  <a:srgbClr val="2E7D32"/>
                </a:solidFill>
                <a:latin typeface="Times New Roman" pitchFamily="34" charset="0"/>
                <a:ea typeface="Times New Roman" pitchFamily="34" charset="-122"/>
                <a:cs typeface="Times New Roman" pitchFamily="34" charset="-120"/>
              </a:rPr>
              <a:t>Synced</a:t>
            </a:r>
            <a:endParaRPr lang="en-US" sz="1000" dirty="0"/>
          </a:p>
        </p:txBody>
      </p:sp>
      <p:sp>
        <p:nvSpPr>
          <p:cNvPr id="28" name="Shape 24"/>
          <p:cNvSpPr/>
          <p:nvPr/>
        </p:nvSpPr>
        <p:spPr>
          <a:xfrm>
            <a:off x="5257800" y="3712464"/>
            <a:ext cx="3017520" cy="457200"/>
          </a:xfrm>
          <a:prstGeom prst="rect">
            <a:avLst/>
          </a:prstGeom>
          <a:solidFill>
            <a:srgbClr val="FFFFFF"/>
          </a:solidFill>
          <a:ln w="12700">
            <a:solidFill>
              <a:srgbClr val="E0E4EA"/>
            </a:solidFill>
            <a:prstDash val="solid"/>
          </a:ln>
        </p:spPr>
      </p:sp>
      <p:sp>
        <p:nvSpPr>
          <p:cNvPr id="29" name="Text 25"/>
          <p:cNvSpPr/>
          <p:nvPr/>
        </p:nvSpPr>
        <p:spPr>
          <a:xfrm>
            <a:off x="5394960" y="3712464"/>
            <a:ext cx="2011680" cy="457200"/>
          </a:xfrm>
          <a:prstGeom prst="rect">
            <a:avLst/>
          </a:prstGeom>
          <a:noFill/>
          <a:ln/>
        </p:spPr>
        <p:txBody>
          <a:bodyPr wrap="square" rtlCol="0" anchor="ctr"/>
          <a:lstStyle/>
          <a:p>
            <a:pPr marL="0" indent="0">
              <a:buNone/>
            </a:pPr>
            <a:r>
              <a:rPr lang="en-US" sz="1100" dirty="0">
                <a:solidFill>
                  <a:srgbClr val="000000"/>
                </a:solidFill>
                <a:latin typeface="Times New Roman" pitchFamily="34" charset="0"/>
                <a:ea typeface="Times New Roman" pitchFamily="34" charset="-122"/>
                <a:cs typeface="Times New Roman" pitchFamily="34" charset="-120"/>
              </a:rPr>
              <a:t>Photos/</a:t>
            </a:r>
            <a:endParaRPr lang="en-US" sz="1100" dirty="0"/>
          </a:p>
        </p:txBody>
      </p:sp>
      <p:sp>
        <p:nvSpPr>
          <p:cNvPr id="30" name="Text 26"/>
          <p:cNvSpPr/>
          <p:nvPr/>
        </p:nvSpPr>
        <p:spPr>
          <a:xfrm>
            <a:off x="7086600" y="3712464"/>
            <a:ext cx="1097280" cy="457200"/>
          </a:xfrm>
          <a:prstGeom prst="rect">
            <a:avLst/>
          </a:prstGeom>
          <a:noFill/>
          <a:ln/>
        </p:spPr>
        <p:txBody>
          <a:bodyPr wrap="square" rtlCol="0" anchor="ctr"/>
          <a:lstStyle/>
          <a:p>
            <a:pPr marL="0" indent="0" algn="r">
              <a:buNone/>
            </a:pPr>
            <a:r>
              <a:rPr lang="en-US" sz="1000" b="1" dirty="0">
                <a:solidFill>
                  <a:srgbClr val="2E7D32"/>
                </a:solidFill>
                <a:latin typeface="Times New Roman" pitchFamily="34" charset="0"/>
                <a:ea typeface="Times New Roman" pitchFamily="34" charset="-122"/>
                <a:cs typeface="Times New Roman" pitchFamily="34" charset="-120"/>
              </a:rPr>
              <a:t>Synced</a:t>
            </a:r>
            <a:endParaRPr lang="en-US" sz="1000" dirty="0"/>
          </a:p>
        </p:txBody>
      </p:sp>
      <p:sp>
        <p:nvSpPr>
          <p:cNvPr id="31" name="Text 27"/>
          <p:cNvSpPr/>
          <p:nvPr/>
        </p:nvSpPr>
        <p:spPr>
          <a:xfrm>
            <a:off x="502920" y="4617720"/>
            <a:ext cx="8138160" cy="274320"/>
          </a:xfrm>
          <a:prstGeom prst="rect">
            <a:avLst/>
          </a:prstGeom>
          <a:noFill/>
          <a:ln/>
        </p:spPr>
        <p:txBody>
          <a:bodyPr wrap="square" rtlCol="0" anchor="ctr"/>
          <a:lstStyle/>
          <a:p>
            <a:pPr marL="0" indent="0" algn="ctr">
              <a:buNone/>
            </a:pPr>
            <a:r>
              <a:rPr lang="en-US" sz="1000" i="1" dirty="0">
                <a:solidFill>
                  <a:srgbClr val="7A8290"/>
                </a:solidFill>
                <a:latin typeface="Times New Roman" pitchFamily="34" charset="0"/>
                <a:ea typeface="Times New Roman" pitchFamily="34" charset="-122"/>
                <a:cs typeface="Times New Roman" pitchFamily="34" charset="-120"/>
              </a:rPr>
              <a:t>Conceptual UI mockup — replace with actual application screenshots.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Applications</a:t>
            </a:r>
            <a:endParaRPr lang="en-US" sz="2400" dirty="0"/>
          </a:p>
        </p:txBody>
      </p:sp>
      <p:sp>
        <p:nvSpPr>
          <p:cNvPr id="5" name="Text 1"/>
          <p:cNvSpPr/>
          <p:nvPr/>
        </p:nvSpPr>
        <p:spPr>
          <a:xfrm>
            <a:off x="502920" y="1325880"/>
            <a:ext cx="4160520" cy="3383280"/>
          </a:xfrm>
          <a:prstGeom prst="rect">
            <a:avLst/>
          </a:prstGeom>
          <a:noFill/>
          <a:ln/>
        </p:spPr>
        <p:txBody>
          <a:bodyPr wrap="square" rtlCol="0" anchor="t"/>
          <a:lstStyle/>
          <a:p>
            <a:pPr marL="228600" indent="-228600">
              <a:spcAft>
                <a:spcPts val="8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Personal File Backup &amp; Access</a:t>
            </a:r>
            <a:endParaRPr lang="en-US" sz="1400" dirty="0"/>
          </a:p>
          <a:p>
            <a:pPr marL="228600" indent="-228600">
              <a:spcAft>
                <a:spcPts val="8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Team Collaboration &amp; Document Sharing</a:t>
            </a:r>
            <a:endParaRPr lang="en-US" sz="1400" dirty="0"/>
          </a:p>
          <a:p>
            <a:pPr marL="228600" indent="-228600">
              <a:spcAft>
                <a:spcPts val="8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Software Development (Cross-Device Code Sync)</a:t>
            </a:r>
            <a:endParaRPr lang="en-US" sz="1400" dirty="0"/>
          </a:p>
          <a:p>
            <a:pPr marL="228600" indent="-228600">
              <a:spcAft>
                <a:spcPts val="8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Educational Institutions (Shared Study Material)</a:t>
            </a:r>
            <a:endParaRPr lang="en-US" sz="1400" dirty="0"/>
          </a:p>
          <a:p>
            <a:pPr marL="228600" indent="-228600">
              <a:spcAft>
                <a:spcPts val="8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Enterprises (Distributed Workforce File Access)</a:t>
            </a:r>
            <a:endParaRPr lang="en-US" sz="1400" dirty="0"/>
          </a:p>
          <a:p>
            <a:pPr marL="228600" indent="-228600">
              <a:spcAft>
                <a:spcPts val="8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Media &amp; Content Creators (Large File Sync)</a:t>
            </a:r>
            <a:endParaRPr lang="en-US" sz="1400" dirty="0"/>
          </a:p>
          <a:p>
            <a:pPr marL="228600" indent="-228600">
              <a:spcAft>
                <a:spcPts val="8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Remote Work Environments</a:t>
            </a:r>
            <a:endParaRPr lang="en-US" sz="1400" dirty="0"/>
          </a:p>
          <a:p>
            <a:pPr marL="228600" indent="-228600">
              <a:spcAft>
                <a:spcPts val="800"/>
              </a:spcAft>
              <a:buSzPct val="100000"/>
              <a:buChar char="•"/>
            </a:pPr>
            <a:r>
              <a:rPr lang="en-US" sz="1400" dirty="0">
                <a:solidFill>
                  <a:srgbClr val="000000"/>
                </a:solidFill>
                <a:latin typeface="Times New Roman" pitchFamily="34" charset="0"/>
                <a:ea typeface="Times New Roman" pitchFamily="34" charset="-122"/>
                <a:cs typeface="Times New Roman" pitchFamily="34" charset="-120"/>
              </a:rPr>
              <a:t>Mobile Professionals</a:t>
            </a:r>
            <a:endParaRPr lang="en-US" sz="1400" dirty="0"/>
          </a:p>
        </p:txBody>
      </p:sp>
      <p:sp>
        <p:nvSpPr>
          <p:cNvPr id="6" name="Shape 2"/>
          <p:cNvSpPr/>
          <p:nvPr/>
        </p:nvSpPr>
        <p:spPr>
          <a:xfrm>
            <a:off x="6126480" y="2286000"/>
            <a:ext cx="1554480" cy="1005840"/>
          </a:xfrm>
          <a:prstGeom prst="ellipse">
            <a:avLst/>
          </a:prstGeom>
          <a:solidFill>
            <a:srgbClr val="E8EEF7"/>
          </a:solidFill>
          <a:ln w="19050">
            <a:solidFill>
              <a:srgbClr val="1B3A6B"/>
            </a:solidFill>
            <a:prstDash val="solid"/>
          </a:ln>
        </p:spPr>
      </p:sp>
      <p:sp>
        <p:nvSpPr>
          <p:cNvPr id="7" name="Text 3"/>
          <p:cNvSpPr/>
          <p:nvPr/>
        </p:nvSpPr>
        <p:spPr>
          <a:xfrm>
            <a:off x="6126480" y="2286000"/>
            <a:ext cx="1554480" cy="1005840"/>
          </a:xfrm>
          <a:prstGeom prst="rect">
            <a:avLst/>
          </a:prstGeom>
          <a:noFill/>
          <a:ln/>
        </p:spPr>
        <p:txBody>
          <a:bodyPr wrap="square" rtlCol="0" anchor="ctr"/>
          <a:lstStyle/>
          <a:p>
            <a:pPr marL="0" indent="0" algn="ctr">
              <a:buNone/>
            </a:pPr>
            <a:r>
              <a:rPr lang="en-US" sz="1100" b="1" dirty="0">
                <a:solidFill>
                  <a:srgbClr val="1B3A6B"/>
                </a:solidFill>
                <a:latin typeface="Times New Roman" pitchFamily="34" charset="0"/>
                <a:ea typeface="Times New Roman" pitchFamily="34" charset="-122"/>
                <a:cs typeface="Times New Roman" pitchFamily="34" charset="-120"/>
              </a:rPr>
              <a:t>Cloud</a:t>
            </a:r>
            <a:endParaRPr lang="en-US" sz="1100" dirty="0"/>
          </a:p>
          <a:p>
            <a:pPr marL="0" indent="0" algn="ctr">
              <a:buNone/>
            </a:pPr>
            <a:r>
              <a:rPr lang="en-US" sz="1100" b="1" dirty="0">
                <a:solidFill>
                  <a:srgbClr val="1B3A6B"/>
                </a:solidFill>
                <a:latin typeface="Times New Roman" pitchFamily="34" charset="0"/>
                <a:ea typeface="Times New Roman" pitchFamily="34" charset="-122"/>
                <a:cs typeface="Times New Roman" pitchFamily="34" charset="-120"/>
              </a:rPr>
              <a:t>Storage</a:t>
            </a:r>
            <a:endParaRPr lang="en-US" sz="1100" dirty="0"/>
          </a:p>
        </p:txBody>
      </p:sp>
      <p:sp>
        <p:nvSpPr>
          <p:cNvPr id="8" name="Shape 4"/>
          <p:cNvSpPr/>
          <p:nvPr/>
        </p:nvSpPr>
        <p:spPr>
          <a:xfrm>
            <a:off x="5532120" y="1691640"/>
            <a:ext cx="1371600" cy="1097280"/>
          </a:xfrm>
          <a:prstGeom prst="line">
            <a:avLst/>
          </a:prstGeom>
          <a:noFill/>
          <a:ln w="15875">
            <a:solidFill>
              <a:srgbClr val="AAB4C0"/>
            </a:solidFill>
            <a:prstDash val="dash"/>
          </a:ln>
        </p:spPr>
      </p:sp>
      <p:sp>
        <p:nvSpPr>
          <p:cNvPr id="9" name="Shape 5"/>
          <p:cNvSpPr/>
          <p:nvPr/>
        </p:nvSpPr>
        <p:spPr>
          <a:xfrm>
            <a:off x="8275320" y="1691640"/>
            <a:ext cx="0" cy="1097280"/>
          </a:xfrm>
          <a:prstGeom prst="line">
            <a:avLst/>
          </a:prstGeom>
          <a:noFill/>
          <a:ln w="15875">
            <a:solidFill>
              <a:srgbClr val="AAB4C0"/>
            </a:solidFill>
            <a:prstDash val="dash"/>
          </a:ln>
        </p:spPr>
      </p:sp>
      <p:sp>
        <p:nvSpPr>
          <p:cNvPr id="10" name="Shape 6"/>
          <p:cNvSpPr/>
          <p:nvPr/>
        </p:nvSpPr>
        <p:spPr>
          <a:xfrm>
            <a:off x="5532120" y="3794760"/>
            <a:ext cx="1371600" cy="0"/>
          </a:xfrm>
          <a:prstGeom prst="line">
            <a:avLst/>
          </a:prstGeom>
          <a:noFill/>
          <a:ln w="15875">
            <a:solidFill>
              <a:srgbClr val="AAB4C0"/>
            </a:solidFill>
            <a:prstDash val="dash"/>
          </a:ln>
        </p:spPr>
      </p:sp>
      <p:sp>
        <p:nvSpPr>
          <p:cNvPr id="11" name="Shape 7"/>
          <p:cNvSpPr/>
          <p:nvPr/>
        </p:nvSpPr>
        <p:spPr>
          <a:xfrm>
            <a:off x="8275320" y="3794760"/>
            <a:ext cx="0" cy="0"/>
          </a:xfrm>
          <a:prstGeom prst="line">
            <a:avLst/>
          </a:prstGeom>
          <a:noFill/>
          <a:ln w="15875">
            <a:solidFill>
              <a:srgbClr val="AAB4C0"/>
            </a:solidFill>
            <a:prstDash val="dash"/>
          </a:ln>
        </p:spPr>
      </p:sp>
      <p:sp>
        <p:nvSpPr>
          <p:cNvPr id="12" name="Shape 8"/>
          <p:cNvSpPr/>
          <p:nvPr/>
        </p:nvSpPr>
        <p:spPr>
          <a:xfrm>
            <a:off x="6903720" y="4526280"/>
            <a:ext cx="0" cy="0"/>
          </a:xfrm>
          <a:prstGeom prst="line">
            <a:avLst/>
          </a:prstGeom>
          <a:noFill/>
          <a:ln w="15875">
            <a:solidFill>
              <a:srgbClr val="AAB4C0"/>
            </a:solidFill>
            <a:prstDash val="dash"/>
          </a:ln>
        </p:spPr>
      </p:sp>
      <p:sp>
        <p:nvSpPr>
          <p:cNvPr id="13" name="Shape 9"/>
          <p:cNvSpPr/>
          <p:nvPr/>
        </p:nvSpPr>
        <p:spPr>
          <a:xfrm>
            <a:off x="4754880" y="1371600"/>
            <a:ext cx="1554480" cy="640080"/>
          </a:xfrm>
          <a:prstGeom prst="roundRect">
            <a:avLst>
              <a:gd name="adj" fmla="val 10000"/>
            </a:avLst>
          </a:prstGeom>
          <a:solidFill>
            <a:srgbClr val="FFFFFF"/>
          </a:solidFill>
          <a:ln w="15875">
            <a:solidFill>
              <a:srgbClr val="1B3A6B"/>
            </a:solidFill>
            <a:prstDash val="solid"/>
          </a:ln>
        </p:spPr>
      </p:sp>
      <p:sp>
        <p:nvSpPr>
          <p:cNvPr id="14" name="Text 10"/>
          <p:cNvSpPr/>
          <p:nvPr/>
        </p:nvSpPr>
        <p:spPr>
          <a:xfrm>
            <a:off x="4754880" y="1371600"/>
            <a:ext cx="1554480" cy="640080"/>
          </a:xfrm>
          <a:prstGeom prst="rect">
            <a:avLst/>
          </a:prstGeom>
          <a:noFill/>
          <a:ln/>
        </p:spPr>
        <p:txBody>
          <a:bodyPr wrap="square" rtlCol="0" anchor="ctr"/>
          <a:lstStyle/>
          <a:p>
            <a:pPr marL="0" indent="0" algn="ctr">
              <a:buNone/>
            </a:pPr>
            <a:r>
              <a:rPr lang="en-US" sz="1100" b="1" dirty="0">
                <a:solidFill>
                  <a:srgbClr val="1B3A6B"/>
                </a:solidFill>
                <a:latin typeface="Times New Roman" pitchFamily="34" charset="0"/>
                <a:ea typeface="Times New Roman" pitchFamily="34" charset="-122"/>
                <a:cs typeface="Times New Roman" pitchFamily="34" charset="-120"/>
              </a:rPr>
              <a:t>Windows</a:t>
            </a:r>
            <a:endParaRPr lang="en-US" sz="1100" dirty="0"/>
          </a:p>
        </p:txBody>
      </p:sp>
      <p:sp>
        <p:nvSpPr>
          <p:cNvPr id="15" name="Shape 11"/>
          <p:cNvSpPr/>
          <p:nvPr/>
        </p:nvSpPr>
        <p:spPr>
          <a:xfrm>
            <a:off x="7498080" y="1371600"/>
            <a:ext cx="1554480" cy="640080"/>
          </a:xfrm>
          <a:prstGeom prst="roundRect">
            <a:avLst>
              <a:gd name="adj" fmla="val 10000"/>
            </a:avLst>
          </a:prstGeom>
          <a:solidFill>
            <a:srgbClr val="FFFFFF"/>
          </a:solidFill>
          <a:ln w="15875">
            <a:solidFill>
              <a:srgbClr val="1B3A6B"/>
            </a:solidFill>
            <a:prstDash val="solid"/>
          </a:ln>
        </p:spPr>
      </p:sp>
      <p:sp>
        <p:nvSpPr>
          <p:cNvPr id="16" name="Text 12"/>
          <p:cNvSpPr/>
          <p:nvPr/>
        </p:nvSpPr>
        <p:spPr>
          <a:xfrm>
            <a:off x="7498080" y="1371600"/>
            <a:ext cx="1554480" cy="640080"/>
          </a:xfrm>
          <a:prstGeom prst="rect">
            <a:avLst/>
          </a:prstGeom>
          <a:noFill/>
          <a:ln/>
        </p:spPr>
        <p:txBody>
          <a:bodyPr wrap="square" rtlCol="0" anchor="ctr"/>
          <a:lstStyle/>
          <a:p>
            <a:pPr marL="0" indent="0" algn="ctr">
              <a:buNone/>
            </a:pPr>
            <a:r>
              <a:rPr lang="en-US" sz="1100" b="1" dirty="0">
                <a:solidFill>
                  <a:srgbClr val="1B3A6B"/>
                </a:solidFill>
                <a:latin typeface="Times New Roman" pitchFamily="34" charset="0"/>
                <a:ea typeface="Times New Roman" pitchFamily="34" charset="-122"/>
                <a:cs typeface="Times New Roman" pitchFamily="34" charset="-120"/>
              </a:rPr>
              <a:t>macOS</a:t>
            </a:r>
            <a:endParaRPr lang="en-US" sz="1100" dirty="0"/>
          </a:p>
        </p:txBody>
      </p:sp>
      <p:sp>
        <p:nvSpPr>
          <p:cNvPr id="17" name="Shape 13"/>
          <p:cNvSpPr/>
          <p:nvPr/>
        </p:nvSpPr>
        <p:spPr>
          <a:xfrm>
            <a:off x="4754880" y="3474720"/>
            <a:ext cx="1554480" cy="640080"/>
          </a:xfrm>
          <a:prstGeom prst="roundRect">
            <a:avLst>
              <a:gd name="adj" fmla="val 10000"/>
            </a:avLst>
          </a:prstGeom>
          <a:solidFill>
            <a:srgbClr val="FFFFFF"/>
          </a:solidFill>
          <a:ln w="15875">
            <a:solidFill>
              <a:srgbClr val="1B3A6B"/>
            </a:solidFill>
            <a:prstDash val="solid"/>
          </a:ln>
        </p:spPr>
      </p:sp>
      <p:sp>
        <p:nvSpPr>
          <p:cNvPr id="18" name="Text 14"/>
          <p:cNvSpPr/>
          <p:nvPr/>
        </p:nvSpPr>
        <p:spPr>
          <a:xfrm>
            <a:off x="4754880" y="3474720"/>
            <a:ext cx="1554480" cy="640080"/>
          </a:xfrm>
          <a:prstGeom prst="rect">
            <a:avLst/>
          </a:prstGeom>
          <a:noFill/>
          <a:ln/>
        </p:spPr>
        <p:txBody>
          <a:bodyPr wrap="square" rtlCol="0" anchor="ctr"/>
          <a:lstStyle/>
          <a:p>
            <a:pPr marL="0" indent="0" algn="ctr">
              <a:buNone/>
            </a:pPr>
            <a:r>
              <a:rPr lang="en-US" sz="1100" b="1" dirty="0">
                <a:solidFill>
                  <a:srgbClr val="1B3A6B"/>
                </a:solidFill>
                <a:latin typeface="Times New Roman" pitchFamily="34" charset="0"/>
                <a:ea typeface="Times New Roman" pitchFamily="34" charset="-122"/>
                <a:cs typeface="Times New Roman" pitchFamily="34" charset="-120"/>
              </a:rPr>
              <a:t>Linux</a:t>
            </a:r>
            <a:endParaRPr lang="en-US" sz="1100" dirty="0"/>
          </a:p>
        </p:txBody>
      </p:sp>
      <p:sp>
        <p:nvSpPr>
          <p:cNvPr id="19" name="Shape 15"/>
          <p:cNvSpPr/>
          <p:nvPr/>
        </p:nvSpPr>
        <p:spPr>
          <a:xfrm>
            <a:off x="7498080" y="3474720"/>
            <a:ext cx="1554480" cy="640080"/>
          </a:xfrm>
          <a:prstGeom prst="roundRect">
            <a:avLst>
              <a:gd name="adj" fmla="val 10000"/>
            </a:avLst>
          </a:prstGeom>
          <a:solidFill>
            <a:srgbClr val="FFFFFF"/>
          </a:solidFill>
          <a:ln w="15875">
            <a:solidFill>
              <a:srgbClr val="1B3A6B"/>
            </a:solidFill>
            <a:prstDash val="solid"/>
          </a:ln>
        </p:spPr>
      </p:sp>
      <p:sp>
        <p:nvSpPr>
          <p:cNvPr id="20" name="Text 16"/>
          <p:cNvSpPr/>
          <p:nvPr/>
        </p:nvSpPr>
        <p:spPr>
          <a:xfrm>
            <a:off x="7498080" y="3474720"/>
            <a:ext cx="1554480" cy="640080"/>
          </a:xfrm>
          <a:prstGeom prst="rect">
            <a:avLst/>
          </a:prstGeom>
          <a:noFill/>
          <a:ln/>
        </p:spPr>
        <p:txBody>
          <a:bodyPr wrap="square" rtlCol="0" anchor="ctr"/>
          <a:lstStyle/>
          <a:p>
            <a:pPr marL="0" indent="0" algn="ctr">
              <a:buNone/>
            </a:pPr>
            <a:r>
              <a:rPr lang="en-US" sz="1100" b="1" dirty="0">
                <a:solidFill>
                  <a:srgbClr val="1B3A6B"/>
                </a:solidFill>
                <a:latin typeface="Times New Roman" pitchFamily="34" charset="0"/>
                <a:ea typeface="Times New Roman" pitchFamily="34" charset="-122"/>
                <a:cs typeface="Times New Roman" pitchFamily="34" charset="-120"/>
              </a:rPr>
              <a:t>Android</a:t>
            </a:r>
            <a:endParaRPr lang="en-US" sz="1100" dirty="0"/>
          </a:p>
        </p:txBody>
      </p:sp>
      <p:sp>
        <p:nvSpPr>
          <p:cNvPr id="21" name="Shape 17"/>
          <p:cNvSpPr/>
          <p:nvPr/>
        </p:nvSpPr>
        <p:spPr>
          <a:xfrm>
            <a:off x="6126480" y="4206240"/>
            <a:ext cx="1554480" cy="640080"/>
          </a:xfrm>
          <a:prstGeom prst="roundRect">
            <a:avLst>
              <a:gd name="adj" fmla="val 10000"/>
            </a:avLst>
          </a:prstGeom>
          <a:solidFill>
            <a:srgbClr val="FFFFFF"/>
          </a:solidFill>
          <a:ln w="15875">
            <a:solidFill>
              <a:srgbClr val="1B3A6B"/>
            </a:solidFill>
            <a:prstDash val="solid"/>
          </a:ln>
        </p:spPr>
      </p:sp>
      <p:sp>
        <p:nvSpPr>
          <p:cNvPr id="22" name="Text 18"/>
          <p:cNvSpPr/>
          <p:nvPr/>
        </p:nvSpPr>
        <p:spPr>
          <a:xfrm>
            <a:off x="6126480" y="4206240"/>
            <a:ext cx="1554480" cy="640080"/>
          </a:xfrm>
          <a:prstGeom prst="rect">
            <a:avLst/>
          </a:prstGeom>
          <a:noFill/>
          <a:ln/>
        </p:spPr>
        <p:txBody>
          <a:bodyPr wrap="square" rtlCol="0" anchor="ctr"/>
          <a:lstStyle/>
          <a:p>
            <a:pPr marL="0" indent="0" algn="ctr">
              <a:buNone/>
            </a:pPr>
            <a:r>
              <a:rPr lang="en-US" sz="1100" b="1" dirty="0">
                <a:solidFill>
                  <a:srgbClr val="1B3A6B"/>
                </a:solidFill>
                <a:latin typeface="Times New Roman" pitchFamily="34" charset="0"/>
                <a:ea typeface="Times New Roman" pitchFamily="34" charset="-122"/>
                <a:cs typeface="Times New Roman" pitchFamily="34" charset="-120"/>
              </a:rPr>
              <a:t>iOS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Conclusion</a:t>
            </a:r>
            <a:endParaRPr lang="en-US" sz="2400" dirty="0"/>
          </a:p>
        </p:txBody>
      </p:sp>
      <p:sp>
        <p:nvSpPr>
          <p:cNvPr id="5" name="Text 1"/>
          <p:cNvSpPr/>
          <p:nvPr/>
        </p:nvSpPr>
        <p:spPr>
          <a:xfrm>
            <a:off x="502920" y="1325880"/>
            <a:ext cx="7882128" cy="3108960"/>
          </a:xfrm>
          <a:prstGeom prst="rect">
            <a:avLst/>
          </a:prstGeom>
          <a:noFill/>
          <a:ln/>
        </p:spPr>
        <p:txBody>
          <a:bodyPr wrap="square" rtlCol="0" anchor="t"/>
          <a:lstStyle/>
          <a:p>
            <a:pPr marL="0" indent="0" algn="just">
              <a:lnSpc>
                <a:spcPct val="115000"/>
              </a:lnSpc>
              <a:buNone/>
            </a:pPr>
            <a:r>
              <a:rPr lang="en-US" sz="1600" dirty="0">
                <a:solidFill>
                  <a:srgbClr val="000000"/>
                </a:solidFill>
                <a:latin typeface="Times New Roman" pitchFamily="34" charset="0"/>
                <a:ea typeface="Times New Roman" pitchFamily="34" charset="-122"/>
                <a:cs typeface="Times New Roman" pitchFamily="34" charset="-120"/>
              </a:rPr>
              <a:t>The proposed Cross-Platform Cloud Storage Access and Synchronization System provides a reliable, secure, and efficient solution for keeping files consistent across multiple devices and operating systems. By integrating cloud storage, delta synchronization, conflict resolution, and strong authentication, the system reduces manual file management effort while improving accessibility and data safety. This approach enables individuals and organizations to work seamlessly across platforms through a unified, always up-to-date cloud storage solution.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Future Work</a:t>
            </a:r>
            <a:endParaRPr lang="en-US" sz="2400" dirty="0"/>
          </a:p>
        </p:txBody>
      </p:sp>
      <p:sp>
        <p:nvSpPr>
          <p:cNvPr id="5" name="Text 1"/>
          <p:cNvSpPr/>
          <p:nvPr/>
        </p:nvSpPr>
        <p:spPr>
          <a:xfrm>
            <a:off x="502920" y="1298448"/>
            <a:ext cx="7882128" cy="3520440"/>
          </a:xfrm>
          <a:prstGeom prst="rect">
            <a:avLst/>
          </a:prstGeom>
          <a:noFill/>
          <a:ln/>
        </p:spPr>
        <p:txBody>
          <a:bodyPr wrap="square" rtlCol="0" anchor="t"/>
          <a:lstStyle/>
          <a:p>
            <a:pPr marL="228600" indent="-228600">
              <a:lnSpc>
                <a:spcPct val="108000"/>
              </a:lnSpc>
              <a:spcAft>
                <a:spcPts val="14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Extend platform support to browser-based clients and IoT/embedded devices for broader accessibility.</a:t>
            </a:r>
            <a:endParaRPr lang="en-US" sz="1550" dirty="0"/>
          </a:p>
          <a:p>
            <a:pPr marL="228600" indent="-228600">
              <a:lnSpc>
                <a:spcPct val="108000"/>
              </a:lnSpc>
              <a:spcAft>
                <a:spcPts val="14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Introduce AI-assisted conflict resolution that suggests merges instead of relying on simple last-write-wins rules.</a:t>
            </a:r>
            <a:endParaRPr lang="en-US" sz="1550" dirty="0"/>
          </a:p>
          <a:p>
            <a:pPr marL="228600" indent="-228600">
              <a:lnSpc>
                <a:spcPct val="108000"/>
              </a:lnSpc>
              <a:spcAft>
                <a:spcPts val="14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Add multi-cloud and hybrid-cloud backend support with automatic provider failover for higher availability.</a:t>
            </a:r>
            <a:endParaRPr lang="en-US" sz="1550" dirty="0"/>
          </a:p>
          <a:p>
            <a:pPr marL="228600" indent="-228600">
              <a:lnSpc>
                <a:spcPct val="108000"/>
              </a:lnSpc>
              <a:spcAft>
                <a:spcPts val="14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Enable real-time collaborative editing on shared files, not just file-level synchronization.</a:t>
            </a:r>
            <a:endParaRPr lang="en-US" sz="1550" dirty="0"/>
          </a:p>
          <a:p>
            <a:pPr marL="228600" indent="-228600">
              <a:lnSpc>
                <a:spcPct val="108000"/>
              </a:lnSpc>
              <a:spcAft>
                <a:spcPts val="14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Use bandwidth-aware, adaptive sync scheduling to improve performance on limited or metered networks.</a:t>
            </a:r>
            <a:endParaRPr lang="en-US" sz="1550" dirty="0"/>
          </a:p>
          <a:p>
            <a:pPr marL="228600" indent="-228600">
              <a:lnSpc>
                <a:spcPct val="108000"/>
              </a:lnSpc>
              <a:spcAft>
                <a:spcPts val="1400"/>
              </a:spcAft>
              <a:buSzPct val="100000"/>
              <a:buChar char="•"/>
            </a:pPr>
            <a:r>
              <a:rPr lang="en-US" sz="1550" dirty="0">
                <a:solidFill>
                  <a:srgbClr val="000000"/>
                </a:solidFill>
                <a:latin typeface="Times New Roman" pitchFamily="34" charset="0"/>
                <a:ea typeface="Times New Roman" pitchFamily="34" charset="-122"/>
                <a:cs typeface="Times New Roman" pitchFamily="34" charset="-120"/>
              </a:rPr>
              <a:t>Explore peer-to-peer sync as an offline fallback when the central cloud service is unreachable.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home/claude/work/assets/logo_simats.png"/>
          <p:cNvPicPr>
            <a:picLocks noChangeAspect="1"/>
          </p:cNvPicPr>
          <p:nvPr/>
        </p:nvPicPr>
        <p:blipFill>
          <a:blip r:embed="rId3"/>
          <a:stretch>
            <a:fillRect/>
          </a:stretch>
        </p:blipFill>
        <p:spPr>
          <a:xfrm>
            <a:off x="91440" y="91440"/>
            <a:ext cx="4059936" cy="457200"/>
          </a:xfrm>
          <a:prstGeom prst="rect">
            <a:avLst/>
          </a:prstGeom>
        </p:spPr>
      </p:pic>
      <p:pic>
        <p:nvPicPr>
          <p:cNvPr id="3" name="Image 1" descr="/home/claude/work/assets/logo_saveetha.png"/>
          <p:cNvPicPr>
            <a:picLocks noChangeAspect="1"/>
          </p:cNvPicPr>
          <p:nvPr/>
        </p:nvPicPr>
        <p:blipFill>
          <a:blip r:embed="rId4"/>
          <a:stretch>
            <a:fillRect/>
          </a:stretch>
        </p:blipFill>
        <p:spPr>
          <a:xfrm>
            <a:off x="4773168" y="91440"/>
            <a:ext cx="4059936" cy="457200"/>
          </a:xfrm>
          <a:prstGeom prst="rect">
            <a:avLst/>
          </a:prstGeom>
        </p:spPr>
      </p:pic>
      <p:sp>
        <p:nvSpPr>
          <p:cNvPr id="4" name="Text 0"/>
          <p:cNvSpPr/>
          <p:nvPr/>
        </p:nvSpPr>
        <p:spPr>
          <a:xfrm>
            <a:off x="502920" y="566928"/>
            <a:ext cx="7882128" cy="566928"/>
          </a:xfrm>
          <a:prstGeom prst="rect">
            <a:avLst/>
          </a:prstGeom>
          <a:noFill/>
          <a:ln/>
        </p:spPr>
        <p:txBody>
          <a:bodyPr wrap="square" rtlCol="0" anchor="ctr"/>
          <a:lstStyle/>
          <a:p>
            <a:pPr marL="0" indent="0" algn="ctr">
              <a:buNone/>
            </a:pPr>
            <a:r>
              <a:rPr lang="en-US" sz="2400" b="1" dirty="0">
                <a:solidFill>
                  <a:srgbClr val="000000"/>
                </a:solidFill>
                <a:latin typeface="Times New Roman" pitchFamily="34" charset="0"/>
                <a:ea typeface="Times New Roman" pitchFamily="34" charset="-122"/>
                <a:cs typeface="Times New Roman" pitchFamily="34" charset="-120"/>
              </a:rPr>
              <a:t>References</a:t>
            </a:r>
            <a:endParaRPr lang="en-US" sz="2400" dirty="0"/>
          </a:p>
        </p:txBody>
      </p:sp>
      <p:sp>
        <p:nvSpPr>
          <p:cNvPr id="5" name="Text 1"/>
          <p:cNvSpPr/>
          <p:nvPr/>
        </p:nvSpPr>
        <p:spPr>
          <a:xfrm>
            <a:off x="502920" y="1234440"/>
            <a:ext cx="7882128" cy="3566160"/>
          </a:xfrm>
          <a:prstGeom prst="rect">
            <a:avLst/>
          </a:prstGeom>
          <a:noFill/>
          <a:ln/>
        </p:spPr>
        <p:txBody>
          <a:bodyPr wrap="square" rtlCol="0" anchor="t"/>
          <a:lstStyle/>
          <a:p>
            <a:pPr marL="285750" indent="-285750" algn="just">
              <a:buFont typeface="Wingdings" pitchFamily="2" charset="2"/>
              <a:buChar char="v"/>
            </a:pPr>
            <a:r>
              <a:rPr lang="en-US" sz="1500" dirty="0">
                <a:solidFill>
                  <a:srgbClr val="000000"/>
                </a:solidFill>
                <a:latin typeface="Times New Roman" pitchFamily="34" charset="0"/>
                <a:ea typeface="Times New Roman" pitchFamily="34" charset="-122"/>
                <a:cs typeface="Times New Roman" pitchFamily="34" charset="-120"/>
              </a:rPr>
              <a:t>Armbrust, M., Fox, A., Griffith, R., Joseph, A.D., Katz, R., Konwinski, A., Lee, G., Patterson, D., Rabkin, A., Stoica, I. and Zaharia, M., 2010. A view of cloud computing. </a:t>
            </a:r>
            <a:r>
              <a:rPr lang="en-US" sz="1500" i="1" dirty="0">
                <a:solidFill>
                  <a:srgbClr val="000000"/>
                </a:solidFill>
                <a:latin typeface="Times New Roman" pitchFamily="34" charset="0"/>
                <a:ea typeface="Times New Roman" pitchFamily="34" charset="-122"/>
                <a:cs typeface="Times New Roman" pitchFamily="34" charset="-120"/>
              </a:rPr>
              <a:t>Communications of the ACM</a:t>
            </a:r>
            <a:r>
              <a:rPr lang="en-US" sz="1500" dirty="0">
                <a:solidFill>
                  <a:srgbClr val="000000"/>
                </a:solidFill>
                <a:latin typeface="Times New Roman" pitchFamily="34" charset="0"/>
                <a:ea typeface="Times New Roman" pitchFamily="34" charset="-122"/>
                <a:cs typeface="Times New Roman" pitchFamily="34" charset="-120"/>
              </a:rPr>
              <a:t>, 53(4), pp.50-58.</a:t>
            </a:r>
            <a:endParaRPr lang="en-US" sz="1500" dirty="0">
              <a:latin typeface="Times New Roman" charset="0"/>
              <a:ea typeface="Times New Roman" charset="0"/>
              <a:cs typeface="Times New Roman" charset="0"/>
            </a:endParaRPr>
          </a:p>
          <a:p>
            <a:pPr marL="285750" indent="-285750" algn="just">
              <a:buFont typeface="Wingdings" pitchFamily="2" charset="2"/>
              <a:buChar char="v"/>
            </a:pPr>
            <a:r>
              <a:rPr lang="en-US" sz="1500" dirty="0">
                <a:solidFill>
                  <a:srgbClr val="000000"/>
                </a:solidFill>
                <a:latin typeface="Times New Roman" pitchFamily="34" charset="0"/>
                <a:ea typeface="Times New Roman" pitchFamily="34" charset="-122"/>
                <a:cs typeface="Times New Roman" pitchFamily="34" charset="-120"/>
              </a:rPr>
              <a:t>Mell, P. and Grance, T., 2011. </a:t>
            </a:r>
            <a:r>
              <a:rPr lang="en-US" sz="1500" i="1" dirty="0">
                <a:solidFill>
                  <a:srgbClr val="000000"/>
                </a:solidFill>
                <a:latin typeface="Times New Roman" pitchFamily="34" charset="0"/>
                <a:ea typeface="Times New Roman" pitchFamily="34" charset="-122"/>
                <a:cs typeface="Times New Roman" pitchFamily="34" charset="-120"/>
              </a:rPr>
              <a:t>The NIST Definition of Cloud Computing.</a:t>
            </a:r>
            <a:r>
              <a:rPr lang="en-US" sz="1500" dirty="0">
                <a:solidFill>
                  <a:srgbClr val="000000"/>
                </a:solidFill>
                <a:latin typeface="Times New Roman" pitchFamily="34" charset="0"/>
                <a:ea typeface="Times New Roman" pitchFamily="34" charset="-122"/>
                <a:cs typeface="Times New Roman" pitchFamily="34" charset="-120"/>
              </a:rPr>
              <a:t> National Institute of Standards and Technology, Special Publication 800-145, Gaithersburg, MD.</a:t>
            </a:r>
            <a:endParaRPr lang="en-US" sz="1500" dirty="0">
              <a:latin typeface="Times New Roman" charset="0"/>
              <a:ea typeface="Times New Roman" charset="0"/>
              <a:cs typeface="Times New Roman" charset="0"/>
            </a:endParaRPr>
          </a:p>
          <a:p>
            <a:pPr marL="285750" indent="-285750" algn="just">
              <a:buFont typeface="Wingdings" pitchFamily="2" charset="2"/>
              <a:buChar char="v"/>
            </a:pPr>
            <a:r>
              <a:rPr lang="en-US" sz="1500" dirty="0">
                <a:solidFill>
                  <a:srgbClr val="000000"/>
                </a:solidFill>
                <a:latin typeface="Times New Roman" pitchFamily="34" charset="0"/>
                <a:ea typeface="Times New Roman" pitchFamily="34" charset="-122"/>
                <a:cs typeface="Times New Roman" pitchFamily="34" charset="-120"/>
              </a:rPr>
              <a:t>Drago, I., Mellia, M., Munafò, M.M., Sperotto, A., Sadre, R. and Pras, A., 2012, November. Inside dropbox: understanding personal cloud storage services. In </a:t>
            </a:r>
            <a:r>
              <a:rPr lang="en-US" sz="1500" i="1" dirty="0">
                <a:solidFill>
                  <a:srgbClr val="000000"/>
                </a:solidFill>
                <a:latin typeface="Times New Roman" pitchFamily="34" charset="0"/>
                <a:ea typeface="Times New Roman" pitchFamily="34" charset="-122"/>
                <a:cs typeface="Times New Roman" pitchFamily="34" charset="-120"/>
              </a:rPr>
              <a:t>Proceedings of the 2012 ACM Internet Measurement Conference (IMC)</a:t>
            </a:r>
            <a:r>
              <a:rPr lang="en-US" sz="1500" dirty="0">
                <a:solidFill>
                  <a:srgbClr val="000000"/>
                </a:solidFill>
                <a:latin typeface="Times New Roman" pitchFamily="34" charset="0"/>
                <a:ea typeface="Times New Roman" pitchFamily="34" charset="-122"/>
                <a:cs typeface="Times New Roman" pitchFamily="34" charset="-120"/>
              </a:rPr>
              <a:t> (pp. 481-494).</a:t>
            </a:r>
            <a:endParaRPr lang="en-US" sz="1500" dirty="0">
              <a:latin typeface="Times New Roman" charset="0"/>
              <a:ea typeface="Times New Roman" charset="0"/>
              <a:cs typeface="Times New Roman" charset="0"/>
            </a:endParaRPr>
          </a:p>
          <a:p>
            <a:pPr marL="285750" indent="-285750" algn="just">
              <a:buFont typeface="Wingdings" pitchFamily="2" charset="2"/>
              <a:buChar char="v"/>
            </a:pPr>
            <a:r>
              <a:rPr lang="en-US" sz="1500" dirty="0">
                <a:solidFill>
                  <a:srgbClr val="000000"/>
                </a:solidFill>
                <a:latin typeface="Times New Roman" pitchFamily="34" charset="0"/>
                <a:ea typeface="Times New Roman" pitchFamily="34" charset="-122"/>
                <a:cs typeface="Times New Roman" pitchFamily="34" charset="-120"/>
              </a:rPr>
              <a:t>Li, Z., Wilson, C., Jiang, Z., Liu, Y., Zhao, B.Y., Jin, C., Zhang, Z.-L. and Dai, Y., 2013. Efficient batched synchronization in dropbox-like cloud storage services. In </a:t>
            </a:r>
            <a:r>
              <a:rPr lang="en-US" sz="1500" i="1" dirty="0">
                <a:solidFill>
                  <a:srgbClr val="000000"/>
                </a:solidFill>
                <a:latin typeface="Times New Roman" pitchFamily="34" charset="0"/>
                <a:ea typeface="Times New Roman" pitchFamily="34" charset="-122"/>
                <a:cs typeface="Times New Roman" pitchFamily="34" charset="-120"/>
              </a:rPr>
              <a:t>Proceedings of the ACM/IFIP/USENIX 14th International Middleware Conference</a:t>
            </a:r>
            <a:r>
              <a:rPr lang="en-US" sz="1500" dirty="0">
                <a:solidFill>
                  <a:srgbClr val="000000"/>
                </a:solidFill>
                <a:latin typeface="Times New Roman" pitchFamily="34" charset="0"/>
                <a:ea typeface="Times New Roman" pitchFamily="34" charset="-122"/>
                <a:cs typeface="Times New Roman" pitchFamily="34" charset="-120"/>
              </a:rPr>
              <a:t> (pp. 307-327). Springer.</a:t>
            </a:r>
            <a:endParaRPr lang="en-US" sz="1500" dirty="0">
              <a:latin typeface="Times New Roman" charset="0"/>
              <a:ea typeface="Times New Roman" charset="0"/>
              <a:cs typeface="Times New Roman" charset="0"/>
            </a:endParaRPr>
          </a:p>
          <a:p>
            <a:pPr marL="285750" indent="-285750" algn="just">
              <a:buFont typeface="Wingdings" pitchFamily="2" charset="2"/>
              <a:buChar char="v"/>
            </a:pPr>
            <a:r>
              <a:rPr lang="en-US" sz="1500" dirty="0">
                <a:solidFill>
                  <a:srgbClr val="000000"/>
                </a:solidFill>
                <a:latin typeface="Times New Roman" pitchFamily="34" charset="0"/>
                <a:ea typeface="Times New Roman" pitchFamily="34" charset="-122"/>
                <a:cs typeface="Times New Roman" pitchFamily="34" charset="-120"/>
              </a:rPr>
              <a:t>Kamara, S. and Lauter, K., 2010, January. Cryptographic cloud storage. In </a:t>
            </a:r>
            <a:r>
              <a:rPr lang="en-US" sz="1500" i="1" dirty="0">
                <a:solidFill>
                  <a:srgbClr val="000000"/>
                </a:solidFill>
                <a:latin typeface="Times New Roman" pitchFamily="34" charset="0"/>
                <a:ea typeface="Times New Roman" pitchFamily="34" charset="-122"/>
                <a:cs typeface="Times New Roman" pitchFamily="34" charset="-120"/>
              </a:rPr>
              <a:t>International Conference on Financial Cryptography and Data Security</a:t>
            </a:r>
            <a:r>
              <a:rPr lang="en-US" sz="1500" dirty="0">
                <a:solidFill>
                  <a:srgbClr val="000000"/>
                </a:solidFill>
                <a:latin typeface="Times New Roman" pitchFamily="34" charset="0"/>
                <a:ea typeface="Times New Roman" pitchFamily="34" charset="-122"/>
                <a:cs typeface="Times New Roman" pitchFamily="34" charset="-120"/>
              </a:rPr>
              <a:t> (pp. 136-149). Springer.</a:t>
            </a:r>
            <a:endParaRPr lang="en-US" sz="1500" dirty="0">
              <a:latin typeface="Times New Roman" charset="0"/>
              <a:ea typeface="Times New Roman" charset="0"/>
              <a:cs typeface="Times New Roman"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3A6B"/>
          </a:solidFill>
          <a:ln/>
        </p:spPr>
      </p:sp>
      <p:sp>
        <p:nvSpPr>
          <p:cNvPr id="3" name="Text 1"/>
          <p:cNvSpPr/>
          <p:nvPr/>
        </p:nvSpPr>
        <p:spPr>
          <a:xfrm>
            <a:off x="0" y="2103120"/>
            <a:ext cx="9144000" cy="914400"/>
          </a:xfrm>
          <a:prstGeom prst="rect">
            <a:avLst/>
          </a:prstGeom>
          <a:noFill/>
          <a:ln/>
        </p:spPr>
        <p:txBody>
          <a:bodyPr wrap="square" rtlCol="0" anchor="ctr"/>
          <a:lstStyle/>
          <a:p>
            <a:pPr marL="0" indent="0" algn="ctr">
              <a:buNone/>
            </a:pPr>
            <a:r>
              <a:rPr lang="en-US" sz="4400" b="1" kern="0" spc="300" dirty="0">
                <a:solidFill>
                  <a:srgbClr val="FFFFFF"/>
                </a:solidFill>
                <a:latin typeface="Times New Roman" pitchFamily="34" charset="0"/>
                <a:ea typeface="Times New Roman" pitchFamily="34" charset="-122"/>
                <a:cs typeface="Times New Roman" pitchFamily="34" charset="-120"/>
              </a:rPr>
              <a:t>THANK YOU</a:t>
            </a:r>
            <a:endParaRPr lang="en-US" sz="4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BFDBE2-178D-5B50-23D2-D1B2216BED7C}"/>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114792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1518</Words>
  <Application>Microsoft Office PowerPoint</Application>
  <PresentationFormat>On-screen Show (16:9)</PresentationFormat>
  <Paragraphs>169</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Hari prasath Madhavan</cp:lastModifiedBy>
  <cp:revision>2</cp:revision>
  <dcterms:created xsi:type="dcterms:W3CDTF">2026-08-20T08:13:17Z</dcterms:created>
  <dcterms:modified xsi:type="dcterms:W3CDTF">2026-09-01T02:45:36Z</dcterms:modified>
</cp:coreProperties>
</file>